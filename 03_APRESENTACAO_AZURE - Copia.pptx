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5"/>
  </p:notesMasterIdLst>
  <p:sldIdLst>
    <p:sldId id="303" r:id="rId3"/>
    <p:sldId id="2343" r:id="rId4"/>
    <p:sldId id="2344" r:id="rId5"/>
    <p:sldId id="2360" r:id="rId6"/>
    <p:sldId id="2345" r:id="rId7"/>
    <p:sldId id="641" r:id="rId8"/>
    <p:sldId id="2284" r:id="rId9"/>
    <p:sldId id="2285" r:id="rId10"/>
    <p:sldId id="2347" r:id="rId11"/>
    <p:sldId id="2348" r:id="rId12"/>
    <p:sldId id="2356" r:id="rId13"/>
    <p:sldId id="642" r:id="rId14"/>
    <p:sldId id="2357" r:id="rId15"/>
    <p:sldId id="2358" r:id="rId16"/>
    <p:sldId id="2349" r:id="rId17"/>
    <p:sldId id="2359" r:id="rId18"/>
    <p:sldId id="2350" r:id="rId19"/>
    <p:sldId id="2351" r:id="rId20"/>
    <p:sldId id="2352" r:id="rId21"/>
    <p:sldId id="2353" r:id="rId22"/>
    <p:sldId id="2361" r:id="rId23"/>
    <p:sldId id="2354" r:id="rId24"/>
    <p:sldId id="2355" r:id="rId25"/>
    <p:sldId id="2267" r:id="rId26"/>
    <p:sldId id="621" r:id="rId27"/>
    <p:sldId id="630" r:id="rId28"/>
    <p:sldId id="606" r:id="rId29"/>
    <p:sldId id="622" r:id="rId30"/>
    <p:sldId id="623" r:id="rId31"/>
    <p:sldId id="624" r:id="rId32"/>
    <p:sldId id="625" r:id="rId33"/>
    <p:sldId id="626" r:id="rId34"/>
    <p:sldId id="627" r:id="rId35"/>
    <p:sldId id="628" r:id="rId36"/>
    <p:sldId id="629" r:id="rId37"/>
    <p:sldId id="631" r:id="rId38"/>
    <p:sldId id="632" r:id="rId39"/>
    <p:sldId id="633" r:id="rId40"/>
    <p:sldId id="634" r:id="rId41"/>
    <p:sldId id="635" r:id="rId42"/>
    <p:sldId id="637" r:id="rId43"/>
    <p:sldId id="636" r:id="rId44"/>
    <p:sldId id="2307" r:id="rId45"/>
    <p:sldId id="2308" r:id="rId46"/>
    <p:sldId id="2309" r:id="rId47"/>
    <p:sldId id="2310" r:id="rId48"/>
    <p:sldId id="2311" r:id="rId49"/>
    <p:sldId id="2312" r:id="rId50"/>
    <p:sldId id="2313" r:id="rId51"/>
    <p:sldId id="2314" r:id="rId52"/>
    <p:sldId id="2315" r:id="rId53"/>
    <p:sldId id="2317" r:id="rId54"/>
    <p:sldId id="2318" r:id="rId55"/>
    <p:sldId id="2319" r:id="rId56"/>
    <p:sldId id="2316" r:id="rId57"/>
    <p:sldId id="2320" r:id="rId58"/>
    <p:sldId id="2321" r:id="rId59"/>
    <p:sldId id="2322" r:id="rId60"/>
    <p:sldId id="2323" r:id="rId61"/>
    <p:sldId id="2324" r:id="rId62"/>
    <p:sldId id="2325" r:id="rId63"/>
    <p:sldId id="2327" r:id="rId64"/>
    <p:sldId id="2326" r:id="rId65"/>
    <p:sldId id="2328" r:id="rId66"/>
    <p:sldId id="2329" r:id="rId67"/>
    <p:sldId id="2330" r:id="rId68"/>
    <p:sldId id="2331" r:id="rId69"/>
    <p:sldId id="2332" r:id="rId70"/>
    <p:sldId id="2333" r:id="rId71"/>
    <p:sldId id="297" r:id="rId72"/>
    <p:sldId id="298" r:id="rId73"/>
    <p:sldId id="299" r:id="rId7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A9"/>
    <a:srgbClr val="2EC1F4"/>
    <a:srgbClr val="4490C4"/>
    <a:srgbClr val="427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5388" autoAdjust="0"/>
  </p:normalViewPr>
  <p:slideViewPr>
    <p:cSldViewPr snapToGrid="0">
      <p:cViewPr varScale="1">
        <p:scale>
          <a:sx n="84" d="100"/>
          <a:sy n="84" d="100"/>
        </p:scale>
        <p:origin x="6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01FB92-3B40-4CEB-8EF6-98192792E525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531D7-9345-481B-A252-EED700AD3D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153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Azure é uma plataforma de computação em nuvem fornecida pela Microsoft, que oferece uma variedade de serviços e soluções para desenvolver, implantar e gerenciar aplicativos e serviços através da internet.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842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/</a:t>
            </a:r>
            <a:r>
              <a:rPr lang="pt-BR" dirty="0" err="1"/>
              <a:t>subscriptions</a:t>
            </a:r>
            <a:r>
              <a:rPr lang="pt-BR" dirty="0"/>
              <a:t>/4e597c6e-77be-4329-b8ed-619a93d4d7ed/</a:t>
            </a:r>
            <a:r>
              <a:rPr lang="pt-BR" dirty="0" err="1"/>
              <a:t>resourceGroups</a:t>
            </a:r>
            <a:r>
              <a:rPr lang="pt-BR" dirty="0"/>
              <a:t>/</a:t>
            </a:r>
            <a:r>
              <a:rPr lang="pt-BR" dirty="0" err="1"/>
              <a:t>rg</a:t>
            </a:r>
            <a:r>
              <a:rPr lang="pt-BR" dirty="0"/>
              <a:t>-workshop-bi-</a:t>
            </a:r>
            <a:r>
              <a:rPr lang="pt-BR" dirty="0" err="1"/>
              <a:t>azure</a:t>
            </a:r>
            <a:r>
              <a:rPr lang="pt-BR" dirty="0"/>
              <a:t>/</a:t>
            </a:r>
            <a:r>
              <a:rPr lang="pt-BR" dirty="0" err="1"/>
              <a:t>providers</a:t>
            </a:r>
            <a:r>
              <a:rPr lang="pt-BR" dirty="0"/>
              <a:t>/</a:t>
            </a:r>
            <a:r>
              <a:rPr lang="pt-BR" dirty="0" err="1"/>
              <a:t>Microsoft.Databricks</a:t>
            </a:r>
            <a:r>
              <a:rPr lang="pt-BR" dirty="0"/>
              <a:t>/</a:t>
            </a:r>
            <a:r>
              <a:rPr lang="pt-BR" dirty="0" err="1"/>
              <a:t>accessConnectors</a:t>
            </a:r>
            <a:r>
              <a:rPr lang="pt-BR" dirty="0"/>
              <a:t>/</a:t>
            </a:r>
            <a:r>
              <a:rPr lang="pt-BR" dirty="0" err="1"/>
              <a:t>managedidentityworkshop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87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973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/</a:t>
            </a:r>
            <a:r>
              <a:rPr lang="pt-BR" dirty="0" err="1"/>
              <a:t>subscriptions</a:t>
            </a:r>
            <a:r>
              <a:rPr lang="pt-BR" dirty="0"/>
              <a:t>/4e597c6e-77be-4329-b8ed-619a93d4d7ed/</a:t>
            </a:r>
            <a:r>
              <a:rPr lang="pt-BR" dirty="0" err="1"/>
              <a:t>resourceGroups</a:t>
            </a:r>
            <a:r>
              <a:rPr lang="pt-BR" dirty="0"/>
              <a:t>/</a:t>
            </a:r>
            <a:r>
              <a:rPr lang="pt-BR" dirty="0" err="1"/>
              <a:t>rg</a:t>
            </a:r>
            <a:r>
              <a:rPr lang="pt-BR" dirty="0"/>
              <a:t>-workshop-bi-az/</a:t>
            </a:r>
            <a:r>
              <a:rPr lang="pt-BR" dirty="0" err="1"/>
              <a:t>providers</a:t>
            </a:r>
            <a:r>
              <a:rPr lang="pt-BR" dirty="0"/>
              <a:t>/</a:t>
            </a:r>
            <a:r>
              <a:rPr lang="pt-BR" dirty="0" err="1"/>
              <a:t>Microsoft.Databricks</a:t>
            </a:r>
            <a:r>
              <a:rPr lang="pt-BR" dirty="0"/>
              <a:t>/</a:t>
            </a:r>
            <a:r>
              <a:rPr lang="pt-BR" dirty="0" err="1"/>
              <a:t>accessConnectors</a:t>
            </a:r>
            <a:r>
              <a:rPr lang="pt-BR" dirty="0"/>
              <a:t>/</a:t>
            </a:r>
            <a:r>
              <a:rPr lang="pt-BR" dirty="0" err="1"/>
              <a:t>managedidentityworkshop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531D7-9345-481B-A252-EED700AD3DD7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498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6E591-8BF2-1E1B-8025-F25382391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E662D8-EDCB-92CC-A1E8-C6AB01DA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89E76F-FD1A-5C07-6C8B-22FA09A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75D406-A207-69C0-4841-2C8A656D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39DA89-BAF9-BAB8-48A0-E5B04E96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9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8A5052-9B90-6542-0FE7-522F584D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DC472-5FBB-0E78-F908-63ABE7C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FF4C9-E274-C1FC-5C08-B99A8DF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CB93B-1F23-71F1-278F-DA485051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AC0DB-B096-03E4-7A70-CA1A7EC2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24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A8E39B-0B93-59EC-2EEF-79A0BF75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B7E1EE-EA5F-4B81-FDFE-A6010AB2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4AC63-5429-D2F8-4A10-A17AB56F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5E4887-F1BA-8E51-295B-2A0422D6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2202B-33FA-65E6-03F1-B205EB44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25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6175F-07C7-B189-C6D2-846DF13C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7C0C4-9236-989B-8B1C-F29A2F96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4BCE8-3185-DAAA-5594-FFAAFACB2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1F6762-3126-175D-EE38-B4B85364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55956-DD2C-B8BF-4EDB-55488043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B4FC4-A6CC-0355-21D8-8378B64E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13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9E234-EA9D-531E-B59E-58164DC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433BD-4B56-566B-3CE2-38FF7F8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9FD1D-56DC-898D-ADB8-C4CD0FCC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8B18BD-8194-1930-4436-AB7278B9F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2871FB-A56A-D112-CC01-E6F25575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F1948C-406D-EE6F-3C5F-E90BF51AB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94862ED-A532-891D-D147-4EC6A9B0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0EFAAC-ADB6-3912-9E3D-9487A4C2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73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2FDE6-6521-231B-3FED-E8D59251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7BD3A4D-BC87-B45C-CAE6-791C6A9C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87D20E-C272-B318-AE90-0E29D781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3F8965-B8E9-0B29-4D66-9042E233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194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BCF0AE-793A-9F93-98E4-13A7FB45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D0F490-DD3E-3BF3-D63D-0F6D59E8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06D652-0D1C-562C-0413-4DABFC1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619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41D19-43EB-4B0A-5D24-CF3083CBA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04726-FE48-E8FE-A1BF-C33A03D13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E050BF-FBE2-7735-DF7C-31948BC94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FC99A8-5C8D-7A2F-838B-94D56037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3F7BBD-E693-CBF8-6F45-94A4EF6E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F47F14-BCDC-68B7-E86F-B59C9682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1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5175D-2BED-7FF4-3AEB-D138286FB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252A6A0-671C-30E7-314F-070120A6C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4DECC8-13B1-A90C-5083-F2647A686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9A45B4-C952-17B4-ECB9-F5D0A430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458819-76AC-FDA3-8960-BEFB675D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76C2E7-7BE6-1ADB-0D93-53C55ACB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66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D2F65-DD74-FC2D-9FD4-4CC39108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F3E820-6CA4-1CC5-BBD3-EF46D5961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193013-3EAB-DA14-0648-33C4E701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A0E4A-F232-79F3-722F-EDD5294C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2F8B1-87C3-DAA8-CFE5-25147256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346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81B49-7FBA-E668-9CD6-9EA2AF0A4A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C7DACA-8415-4AD0-AED9-AF3EB5C0E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ED9E4-238A-DF6B-7F29-9D9F545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4389C7-6D86-8AA7-DF70-9D43BA1C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81AD3-1C74-18CF-D2D1-A377C90C6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46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2B672-CA1C-E64D-205A-F882DA680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DB2CC-1539-9680-DFE8-249AACBAC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4CC27D-B7FD-AC74-A7A4-2C9562A8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7B4A7F-FD40-A5E3-785E-62A5AE89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DC4D8C-C526-46E7-A440-39F316025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759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22492-AC82-ECDB-FE5C-05625C21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F8BE50-F44C-14A7-B2E7-FF58DD69B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2D09B5-EE39-FE5D-761E-74CA852C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16BD68-7443-EA7D-7E09-C70FB35D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08EF7C-5F07-FFA6-76BE-226B33D5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920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C8D97-07C4-22AB-B080-88EDF12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1B52B5-858E-0CE3-946E-DCC4F7E53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181AF3-00CA-E51E-283D-E1167C72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4920C9-49C6-D677-333A-E9694D4F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9FE005-93BB-41DA-791B-53699339B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492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0D617-8553-29BA-23FF-855A57D3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931C11-9DAC-1504-AF16-2104C9BE8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60C1C4-26F9-BDBD-9369-51FEDC5EA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C3BCA5-167F-E6D0-0C64-9970AF81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8A235C-F726-F055-E16C-61CB6072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57EA13-C001-563F-BC6D-6AE03F3E7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91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42DF6-D623-AAC6-D7BD-8AFA5A7E9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38577C-158B-CFAA-FD6D-1D9792188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B5DC3C-B0C2-344F-626B-74BF4A00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C34F26-B272-B8DC-B66C-021A02A63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9A8AF2E-E581-B42B-D521-3AC658647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1CD1C6-129F-A610-4E86-16D2ECBA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0A087E-8FF9-9A3F-90C4-F0F53D24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E1662A-DA09-AB72-B7AE-DF7CBD43F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8641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2CAF5-68ED-EC3B-EE5F-942D2F54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BBA416-50DD-44E0-DA78-654DA498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8DEE6-769B-15BA-1C93-E4081ED5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3932FC-4A3C-1198-0E8D-0528DD5F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35532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901112-F4FA-8711-2EB5-8DD1F172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D9BD73-5C0A-87AE-A5C5-7B837E2E3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30659C-222F-7926-4B74-B08F96006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231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080CF-AF70-3431-8994-64FF1CA84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546704-9281-B1B8-477B-B9E041908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F5BE99-31F4-0D4F-BA32-0280851E9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BB9A2A-B867-9E29-5B6B-80CB05C50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95CDE6-ADE4-4EA6-6684-6701CDBE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2019F1-5545-F477-4A7F-FEE27876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098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320AD-3B82-2603-468F-452CE76A2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407B07-ED34-57DA-F9FB-2C1787919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B444FC-E0C5-74CE-F738-31CC18D7D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0C2426-1627-A8AE-8DC4-67AFEBFD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E49AC3-9AC4-55A6-4D36-31BD48E34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EC8BFB-1FC6-91DF-2BC2-36409630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2857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93171-9A34-F31F-AB24-20D0F305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CDDB0D-1152-8357-D0CE-A29041CB2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6A131C-95CA-CFCD-2746-562D38A3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DA1855-46A3-CEBE-0879-76854D4F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D46FBB-3A4B-8C95-089E-8BDFC979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6472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135186-D1F9-9716-48AB-9ACD50DD2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8F2136-B5BF-E62A-A9F5-2590BBAB8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65B09C-BFCD-96A1-2B7C-19B2DD608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ACD5BC-3EE2-35E1-AAF8-DB08CDC67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1F1125-392F-3010-3643-49B285E3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199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A93EA9-7B75-7075-EBA7-092D98203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269631-6FEA-3203-19AD-05B356A7D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FB7B25-5952-61A2-DE4A-E34AAB7F4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5A94-D9CB-470F-A58C-5F43E2446D83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A8F785-F69C-4AF4-600B-AD9B75BF2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E0D13E-EDFA-2475-9B9B-A0AB59BD0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B0A60-F06B-4941-80F4-6152928E47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0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6F5692B-18A0-8079-8652-7FB26E8E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764E7F-BEB7-6F51-857B-08990AE54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3AD52F-F4C2-3046-4706-0E28EB1AA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0AFBE-E3CF-4C7F-BCBB-A9BA7FF07E86}" type="datetimeFigureOut">
              <a:rPr lang="pt-BR" smtClean="0"/>
              <a:t>10/09/2024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9D5B00-5852-603A-BEDB-D1C7702F4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9DFB85-A989-A1DA-C37D-627D8B62E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DF66F-1693-46A0-94F5-06C848E293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14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3B650E41-5A06-9D35-D992-E0B006FD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4371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86116B90-43C7-828E-1E1A-CEE683113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70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A0F398-111E-5E44-E55A-A72D942D859E}"/>
              </a:ext>
            </a:extLst>
          </p:cNvPr>
          <p:cNvSpPr txBox="1"/>
          <p:nvPr/>
        </p:nvSpPr>
        <p:spPr>
          <a:xfrm>
            <a:off x="0" y="1073436"/>
            <a:ext cx="1219199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solidFill>
                  <a:srgbClr val="007DA9"/>
                </a:solidFill>
                <a:latin typeface="Impact" panose="020B0806030902050204" pitchFamily="34" charset="0"/>
              </a:rPr>
              <a:t>DIA 8</a:t>
            </a: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3B650E41-5A06-9D35-D992-E0B006FDE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4371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</p:spTree>
    <p:extLst>
      <p:ext uri="{BB962C8B-B14F-4D97-AF65-F5344CB8AC3E}">
        <p14:creationId xmlns:p14="http://schemas.microsoft.com/office/powerpoint/2010/main" val="400246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Nossa agenda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1BE8AF0-66C9-E979-6CF5-A5E79E4188D4}"/>
              </a:ext>
            </a:extLst>
          </p:cNvPr>
          <p:cNvSpPr txBox="1"/>
          <p:nvPr/>
        </p:nvSpPr>
        <p:spPr>
          <a:xfrm>
            <a:off x="268062" y="1573008"/>
            <a:ext cx="117122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Dia: 13/06/2024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Provisionando o Azure SQL Database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Instalando e Explorando o Azure Data Studio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7DA9"/>
                </a:solidFill>
                <a:latin typeface="Impact" panose="020B0806030902050204" pitchFamily="34" charset="0"/>
              </a:rPr>
              <a:t>Explorando os recursos do Azure Data Factory</a:t>
            </a:r>
          </a:p>
          <a:p>
            <a:pPr lvl="1"/>
            <a:endParaRPr lang="pt-BR" sz="24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37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9BEB-FD9F-7699-B57C-A3BE15CB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1C36A44-867C-3925-2F91-5C2F0D3F32CE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Cronograma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DD90D004-BA6F-C63E-0454-7D952FFD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71D41A-D206-A0C7-EE10-E6283FAB83E7}"/>
              </a:ext>
            </a:extLst>
          </p:cNvPr>
          <p:cNvSpPr txBox="1"/>
          <p:nvPr/>
        </p:nvSpPr>
        <p:spPr>
          <a:xfrm>
            <a:off x="268062" y="1471910"/>
            <a:ext cx="428412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Dia: 05/06/2024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Provisionando o Azure Data 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Instalando e Configurando o Integration </a:t>
            </a:r>
          </a:p>
          <a:p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Runtime no Data 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Provisionando o Azure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Instalando e Explorando o Azure Data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Dia: 13/06/2024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o GitHub e o Azure Devops no </a:t>
            </a:r>
          </a:p>
          <a:p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Azure Data 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Explorando os recursos do Azure Data Factory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Criando uma esteira completa (Branch + </a:t>
            </a:r>
          </a:p>
          <a:p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Pipeline + Pull Request)</a:t>
            </a:r>
          </a:p>
          <a:p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10D6EC-8DD6-54AC-B3D5-023ABAB17634}"/>
              </a:ext>
            </a:extLst>
          </p:cNvPr>
          <p:cNvSpPr txBox="1"/>
          <p:nvPr/>
        </p:nvSpPr>
        <p:spPr>
          <a:xfrm>
            <a:off x="7224434" y="1471910"/>
            <a:ext cx="456855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Dia: 19/06/2024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Provisionando o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o GitHub e o Azure Devops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Criando uma Repos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o Azure Key Vault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Criando alguns Notebooks e criando uma Branch </a:t>
            </a:r>
          </a:p>
          <a:p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+ Pull Request)</a:t>
            </a:r>
          </a:p>
          <a:p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Dias: 25/06/2024 à 10/07/2024 (3 dias)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7DA9"/>
                </a:solidFill>
                <a:latin typeface="Impact" panose="020B0806030902050204" pitchFamily="34" charset="0"/>
              </a:rPr>
              <a:t>Desenvolvimento do Projeto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7539A5-6DD0-F795-F6F9-4F50C1F22DE9}"/>
              </a:ext>
            </a:extLst>
          </p:cNvPr>
          <p:cNvSpPr/>
          <p:nvPr/>
        </p:nvSpPr>
        <p:spPr>
          <a:xfrm>
            <a:off x="196495" y="1386650"/>
            <a:ext cx="4333560" cy="2440360"/>
          </a:xfrm>
          <a:prstGeom prst="roundRect">
            <a:avLst/>
          </a:prstGeom>
          <a:noFill/>
          <a:ln w="38100"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17D51E3-413B-E056-1C1C-6490960844CB}"/>
              </a:ext>
            </a:extLst>
          </p:cNvPr>
          <p:cNvSpPr/>
          <p:nvPr/>
        </p:nvSpPr>
        <p:spPr>
          <a:xfrm>
            <a:off x="196495" y="4073750"/>
            <a:ext cx="4333560" cy="1981968"/>
          </a:xfrm>
          <a:prstGeom prst="roundRect">
            <a:avLst/>
          </a:prstGeom>
          <a:noFill/>
          <a:ln w="38100"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A6D169E-3384-2C08-207F-DD787F25337A}"/>
              </a:ext>
            </a:extLst>
          </p:cNvPr>
          <p:cNvSpPr/>
          <p:nvPr/>
        </p:nvSpPr>
        <p:spPr>
          <a:xfrm>
            <a:off x="7058980" y="4073750"/>
            <a:ext cx="4677370" cy="1981968"/>
          </a:xfrm>
          <a:prstGeom prst="roundRect">
            <a:avLst/>
          </a:prstGeom>
          <a:noFill/>
          <a:ln w="38100"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46B0D44-25E2-1DC2-A468-695D88D9BE13}"/>
              </a:ext>
            </a:extLst>
          </p:cNvPr>
          <p:cNvSpPr/>
          <p:nvPr/>
        </p:nvSpPr>
        <p:spPr>
          <a:xfrm>
            <a:off x="7058980" y="1386651"/>
            <a:ext cx="4677370" cy="2500742"/>
          </a:xfrm>
          <a:prstGeom prst="roundRect">
            <a:avLst/>
          </a:prstGeom>
          <a:noFill/>
          <a:ln w="38100"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854C7C79-7359-2C82-01FC-6954AA9F2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18" name="Imagem 17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FF66E892-CFD2-2CBF-87BC-8B7C63C4F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73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– Modelos de Serviço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1026" name="Picture 2" descr="Como um churrasco te ajuda a entender o que é a Cloud">
            <a:extLst>
              <a:ext uri="{FF2B5EF4-FFF2-40B4-BE49-F238E27FC236}">
                <a16:creationId xmlns:a16="http://schemas.microsoft.com/office/drawing/2014/main" id="{704C2031-FAE4-1A87-535C-ECF0BF2FA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942" y="1491078"/>
            <a:ext cx="8541222" cy="48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7B311E1-61B1-5FCC-2362-710E51E351F8}"/>
              </a:ext>
            </a:extLst>
          </p:cNvPr>
          <p:cNvSpPr/>
          <p:nvPr/>
        </p:nvSpPr>
        <p:spPr>
          <a:xfrm>
            <a:off x="4038600" y="1491078"/>
            <a:ext cx="6506564" cy="4804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Como um churrasco te ajuda a entender o que é a Cloud">
            <a:extLst>
              <a:ext uri="{FF2B5EF4-FFF2-40B4-BE49-F238E27FC236}">
                <a16:creationId xmlns:a16="http://schemas.microsoft.com/office/drawing/2014/main" id="{B317DAE5-83B4-91FC-70B8-A5F43ED8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920" y="1487088"/>
            <a:ext cx="8541222" cy="48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E3B1E3-0933-5593-6D5A-E522D1C25729}"/>
              </a:ext>
            </a:extLst>
          </p:cNvPr>
          <p:cNvSpPr/>
          <p:nvPr/>
        </p:nvSpPr>
        <p:spPr>
          <a:xfrm>
            <a:off x="6276341" y="1486023"/>
            <a:ext cx="6506564" cy="4804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Picture 2" descr="Como um churrasco te ajuda a entender o que é a Cloud">
            <a:extLst>
              <a:ext uri="{FF2B5EF4-FFF2-40B4-BE49-F238E27FC236}">
                <a16:creationId xmlns:a16="http://schemas.microsoft.com/office/drawing/2014/main" id="{2DC76440-60B7-502B-FFFD-A90F61595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343" y="1486836"/>
            <a:ext cx="8541222" cy="48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CF5AFDA-E94A-04A3-A513-A1A5EACBD8F3}"/>
              </a:ext>
            </a:extLst>
          </p:cNvPr>
          <p:cNvSpPr/>
          <p:nvPr/>
        </p:nvSpPr>
        <p:spPr>
          <a:xfrm>
            <a:off x="8390626" y="1477651"/>
            <a:ext cx="3801374" cy="49028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2" descr="Como um churrasco te ajuda a entender o que é a Cloud">
            <a:extLst>
              <a:ext uri="{FF2B5EF4-FFF2-40B4-BE49-F238E27FC236}">
                <a16:creationId xmlns:a16="http://schemas.microsoft.com/office/drawing/2014/main" id="{2A86E0CF-5467-75A1-E966-C14F6341A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305" y="1486836"/>
            <a:ext cx="8541222" cy="48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86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Database – IAAS x PAAS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D79EB9C-5C84-8FCB-4438-A2F8B8B8B087}"/>
              </a:ext>
            </a:extLst>
          </p:cNvPr>
          <p:cNvSpPr/>
          <p:nvPr/>
        </p:nvSpPr>
        <p:spPr>
          <a:xfrm>
            <a:off x="268062" y="1799562"/>
            <a:ext cx="11609711" cy="42699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A2C428D-C06D-0726-EBD4-D23760D789C8}"/>
              </a:ext>
            </a:extLst>
          </p:cNvPr>
          <p:cNvSpPr/>
          <p:nvPr/>
        </p:nvSpPr>
        <p:spPr>
          <a:xfrm>
            <a:off x="2066074" y="2015525"/>
            <a:ext cx="1930093" cy="1113480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IAAS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DBF00AD-4188-5D08-71DC-BFED348FD5AE}"/>
              </a:ext>
            </a:extLst>
          </p:cNvPr>
          <p:cNvSpPr/>
          <p:nvPr/>
        </p:nvSpPr>
        <p:spPr>
          <a:xfrm>
            <a:off x="7724273" y="2017943"/>
            <a:ext cx="1930093" cy="1113480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PAAS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7252D6A-28AE-F725-94AF-429E8327D317}"/>
              </a:ext>
            </a:extLst>
          </p:cNvPr>
          <p:cNvSpPr/>
          <p:nvPr/>
        </p:nvSpPr>
        <p:spPr>
          <a:xfrm>
            <a:off x="688753" y="3455123"/>
            <a:ext cx="4684733" cy="2306849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Possibilidade de todos os </a:t>
            </a:r>
            <a:r>
              <a:rPr lang="pt-BR" sz="1800" dirty="0" err="1">
                <a:latin typeface="Impact" panose="020B0806030902050204" pitchFamily="34" charset="0"/>
              </a:rPr>
              <a:t>databases</a:t>
            </a:r>
            <a:r>
              <a:rPr lang="pt-BR" dirty="0">
                <a:latin typeface="Impact" panose="020B0806030902050204" pitchFamily="34" charset="0"/>
              </a:rPr>
              <a:t>;</a:t>
            </a:r>
          </a:p>
          <a:p>
            <a:pPr algn="ctr"/>
            <a:r>
              <a:rPr lang="pt-BR" sz="1800" dirty="0">
                <a:latin typeface="Impact" panose="020B0806030902050204" pitchFamily="34" charset="0"/>
              </a:rPr>
              <a:t>Infraestrutura personalizada (controle de CPU, Memória, </a:t>
            </a:r>
            <a:r>
              <a:rPr lang="pt-BR" sz="1800" dirty="0" err="1">
                <a:latin typeface="Impact" panose="020B0806030902050204" pitchFamily="34" charset="0"/>
              </a:rPr>
              <a:t>IOPs</a:t>
            </a:r>
            <a:r>
              <a:rPr lang="pt-BR" sz="1800" dirty="0">
                <a:latin typeface="Impact" panose="020B0806030902050204" pitchFamily="34" charset="0"/>
              </a:rPr>
              <a:t>, Disco)</a:t>
            </a:r>
          </a:p>
          <a:p>
            <a:pPr algn="ctr"/>
            <a:r>
              <a:rPr lang="pt-BR" dirty="0">
                <a:latin typeface="Impact" panose="020B0806030902050204" pitchFamily="34" charset="0"/>
              </a:rPr>
              <a:t>Escalabilidade limitada por conta da infraestrutura</a:t>
            </a:r>
          </a:p>
          <a:p>
            <a:pPr algn="ctr"/>
            <a:r>
              <a:rPr lang="pt-BR" sz="1800" dirty="0">
                <a:latin typeface="Impact" panose="020B0806030902050204" pitchFamily="34" charset="0"/>
              </a:rPr>
              <a:t>Manutenção por conta do usuário 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D14D9BB-5875-2334-80DC-F51F0D1532B2}"/>
              </a:ext>
            </a:extLst>
          </p:cNvPr>
          <p:cNvSpPr/>
          <p:nvPr/>
        </p:nvSpPr>
        <p:spPr>
          <a:xfrm>
            <a:off x="6283263" y="3447059"/>
            <a:ext cx="4684733" cy="2306849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Tipos de </a:t>
            </a:r>
            <a:r>
              <a:rPr lang="pt-BR" sz="1800" dirty="0" err="1">
                <a:latin typeface="Impact" panose="020B0806030902050204" pitchFamily="34" charset="0"/>
              </a:rPr>
              <a:t>databases</a:t>
            </a:r>
            <a:r>
              <a:rPr lang="pt-BR" sz="1800" dirty="0">
                <a:latin typeface="Impact" panose="020B0806030902050204" pitchFamily="34" charset="0"/>
              </a:rPr>
              <a:t> limitados</a:t>
            </a:r>
          </a:p>
          <a:p>
            <a:pPr algn="ctr"/>
            <a:r>
              <a:rPr lang="pt-BR" dirty="0">
                <a:latin typeface="Impact" panose="020B0806030902050204" pitchFamily="34" charset="0"/>
              </a:rPr>
              <a:t>Infraestrutura é abstraída </a:t>
            </a:r>
          </a:p>
          <a:p>
            <a:pPr algn="ctr"/>
            <a:r>
              <a:rPr lang="pt-BR" sz="1800" dirty="0">
                <a:latin typeface="Impact" panose="020B0806030902050204" pitchFamily="34" charset="0"/>
              </a:rPr>
              <a:t>Prevê possibilidade de escalabilidade</a:t>
            </a:r>
          </a:p>
          <a:p>
            <a:pPr algn="ctr"/>
            <a:r>
              <a:rPr lang="pt-BR" dirty="0">
                <a:latin typeface="Impact" panose="020B0806030902050204" pitchFamily="34" charset="0"/>
              </a:rPr>
              <a:t>Manutenção e backup limitado</a:t>
            </a:r>
            <a:endParaRPr lang="pt-BR" sz="18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26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B8A7B4EC-2F73-6ECC-40EE-6582EE2E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1" y="456942"/>
            <a:ext cx="11278578" cy="5944115"/>
          </a:xfrm>
          <a:prstGeom prst="rect">
            <a:avLst/>
          </a:prstGeom>
        </p:spPr>
      </p:pic>
      <p:pic>
        <p:nvPicPr>
          <p:cNvPr id="21" name="Imagem 20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054C31B2-DE35-B289-8B92-E5A603DC8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7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86009B1-4126-E1F3-0CF4-BCDA75D7F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1" y="679287"/>
            <a:ext cx="11278578" cy="4797968"/>
          </a:xfrm>
          <a:prstGeom prst="rect">
            <a:avLst/>
          </a:prstGeom>
        </p:spPr>
      </p:pic>
      <p:pic>
        <p:nvPicPr>
          <p:cNvPr id="3" name="Imagem 2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9D1B86D1-D1A9-EE59-E613-59BC9605C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5216387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39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Cara De Rabisco Engraçado Parece Infeliz Com O Sinal De Dúvida.  Ilustração do Vetor - Ilustração de homem, pessoa: 267519797">
            <a:extLst>
              <a:ext uri="{FF2B5EF4-FFF2-40B4-BE49-F238E27FC236}">
                <a16:creationId xmlns:a16="http://schemas.microsoft.com/office/drawing/2014/main" id="{42AC2CCB-B3D6-803A-EA73-8729E5BA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605" y="1184695"/>
            <a:ext cx="5122167" cy="494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E os outros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Databases</a:t>
            </a:r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??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3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2" name="Rectangle 7">
            <a:extLst>
              <a:ext uri="{FF2B5EF4-FFF2-40B4-BE49-F238E27FC236}">
                <a16:creationId xmlns:a16="http://schemas.microsoft.com/office/drawing/2014/main" id="{A8F14BAF-5FBD-7DA4-AD5E-A079F82E4B86}"/>
              </a:ext>
            </a:extLst>
          </p:cNvPr>
          <p:cNvSpPr/>
          <p:nvPr/>
        </p:nvSpPr>
        <p:spPr bwMode="auto">
          <a:xfrm>
            <a:off x="4038600" y="1811813"/>
            <a:ext cx="3554284" cy="4240961"/>
          </a:xfrm>
          <a:prstGeom prst="rect">
            <a:avLst/>
          </a:prstGeom>
          <a:noFill/>
          <a:ln w="38100"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rtl="0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3" name="Picture 9">
            <a:extLst>
              <a:ext uri="{FF2B5EF4-FFF2-40B4-BE49-F238E27FC236}">
                <a16:creationId xmlns:a16="http://schemas.microsoft.com/office/drawing/2014/main" id="{A3450084-B587-9BB4-2707-499BCBAFC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045" y="2064560"/>
            <a:ext cx="354114" cy="456262"/>
          </a:xfrm>
          <a:prstGeom prst="rect">
            <a:avLst/>
          </a:prstGeom>
        </p:spPr>
      </p:pic>
      <p:sp>
        <p:nvSpPr>
          <p:cNvPr id="24" name="TextBox 14">
            <a:extLst>
              <a:ext uri="{FF2B5EF4-FFF2-40B4-BE49-F238E27FC236}">
                <a16:creationId xmlns:a16="http://schemas.microsoft.com/office/drawing/2014/main" id="{2961ECC5-9317-72E3-4EB5-58E0DA943A30}"/>
              </a:ext>
            </a:extLst>
          </p:cNvPr>
          <p:cNvSpPr txBox="1"/>
          <p:nvPr/>
        </p:nvSpPr>
        <p:spPr>
          <a:xfrm>
            <a:off x="4753992" y="2199993"/>
            <a:ext cx="2482154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rtl="0">
              <a:lnSpc>
                <a:spcPct val="90000"/>
              </a:lnSpc>
              <a:spcAft>
                <a:spcPts val="600"/>
              </a:spcAft>
            </a:pPr>
            <a:r>
              <a:rPr lang="pt-br" sz="1800">
                <a:latin typeface="+mj-lt"/>
              </a:rPr>
              <a:t>Banco de Dados SQL do Azure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73E50374-ADE7-A37E-2514-6ACE3B740B09}"/>
              </a:ext>
            </a:extLst>
          </p:cNvPr>
          <p:cNvSpPr txBox="1">
            <a:spLocks/>
          </p:cNvSpPr>
          <p:nvPr/>
        </p:nvSpPr>
        <p:spPr>
          <a:xfrm>
            <a:off x="4180647" y="2825386"/>
            <a:ext cx="3270192" cy="28125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7800" indent="-177800" rtl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pt-br" sz="1400" dirty="0"/>
              <a:t>Compatibilidade da funcionalidade principal do banco de dados com </a:t>
            </a:r>
            <a:br>
              <a:rPr lang="pt-br" sz="1400" dirty="0"/>
            </a:br>
            <a:r>
              <a:rPr lang="pt-br" sz="1400" dirty="0"/>
              <a:t>o SQL Server</a:t>
            </a:r>
          </a:p>
          <a:p>
            <a:pPr marL="177800" marR="0" lvl="0" indent="-177800" algn="l" defTabSz="914367" rtl="0" eaLnBrk="1" fontAlgn="auto" latinLnBrk="0" hangingPunct="1"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Backups automáticos, aplicação </a:t>
            </a:r>
            <a:br>
              <a:rPr lang="pt-br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lang="pt-br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 patch de software, monitoramento de banco de dados e outras tarefas </a:t>
            </a:r>
            <a:br>
              <a:rPr lang="pt-br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lang="pt-br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de manutenção</a:t>
            </a:r>
          </a:p>
          <a:p>
            <a:pPr marL="177800" indent="-177800" rtl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pt-br" sz="1400" i="1" dirty="0"/>
              <a:t>Banco de dados único</a:t>
            </a:r>
            <a:r>
              <a:rPr lang="pt-br" sz="1400" dirty="0"/>
              <a:t> ou </a:t>
            </a:r>
            <a:r>
              <a:rPr lang="pt-br" sz="1400" i="1" dirty="0"/>
              <a:t>pool elástico</a:t>
            </a:r>
            <a:r>
              <a:rPr lang="pt-br" sz="1400" dirty="0"/>
              <a:t> para compartilhar dinamicamente recursos entre vários bancos de dados</a:t>
            </a:r>
          </a:p>
          <a:p>
            <a:pPr marL="177800" indent="-177800" rtl="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pt-br" sz="1400" dirty="0"/>
              <a:t>Excelente para aplicativos novos baseados em nuvem</a:t>
            </a:r>
          </a:p>
        </p:txBody>
      </p:sp>
    </p:spTree>
    <p:extLst>
      <p:ext uri="{BB962C8B-B14F-4D97-AF65-F5344CB8AC3E}">
        <p14:creationId xmlns:p14="http://schemas.microsoft.com/office/powerpoint/2010/main" val="534693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52B2-6F6D-E0FE-F69D-5CF990E0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128098BA-ADC1-6359-D78C-B6647241A5F7}"/>
              </a:ext>
            </a:extLst>
          </p:cNvPr>
          <p:cNvSpPr/>
          <p:nvPr/>
        </p:nvSpPr>
        <p:spPr>
          <a:xfrm>
            <a:off x="268062" y="1403322"/>
            <a:ext cx="11609711" cy="49530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noFill/>
              </a:rPr>
              <a:t>ETL:</a:t>
            </a:r>
          </a:p>
          <a:p>
            <a:pPr algn="ctr"/>
            <a:r>
              <a:rPr lang="pt-BR" dirty="0">
                <a:noFill/>
              </a:rPr>
              <a:t>Transforma os dados antes do carregamento.</a:t>
            </a:r>
          </a:p>
          <a:p>
            <a:pPr algn="ctr"/>
            <a:r>
              <a:rPr lang="pt-BR" dirty="0">
                <a:noFill/>
              </a:rPr>
              <a:t>Requer maior definição no início.</a:t>
            </a:r>
          </a:p>
          <a:p>
            <a:pPr algn="ctr"/>
            <a:r>
              <a:rPr lang="pt-BR" dirty="0">
                <a:noFill/>
              </a:rPr>
              <a:t>Ideal para carregar bancos de dados legados no data </a:t>
            </a:r>
            <a:r>
              <a:rPr lang="pt-BR" dirty="0" err="1">
                <a:noFill/>
              </a:rPr>
              <a:t>warehouse</a:t>
            </a:r>
            <a:r>
              <a:rPr lang="pt-BR" dirty="0">
                <a:noFill/>
              </a:rPr>
              <a:t>.</a:t>
            </a:r>
          </a:p>
          <a:p>
            <a:pPr algn="ctr"/>
            <a:r>
              <a:rPr lang="pt-BR" dirty="0">
                <a:noFill/>
              </a:rPr>
              <a:t>ELT:</a:t>
            </a:r>
          </a:p>
          <a:p>
            <a:pPr algn="ctr"/>
            <a:r>
              <a:rPr lang="pt-BR" dirty="0">
                <a:noFill/>
              </a:rPr>
              <a:t>Carrega os dados primeiro e transforma-os posteriormente.</a:t>
            </a:r>
          </a:p>
          <a:p>
            <a:pPr algn="ctr"/>
            <a:r>
              <a:rPr lang="pt-BR" dirty="0">
                <a:noFill/>
              </a:rPr>
              <a:t>Mais flexível e escalável.</a:t>
            </a:r>
          </a:p>
          <a:p>
            <a:pPr algn="ctr"/>
            <a:r>
              <a:rPr lang="pt-BR" dirty="0">
                <a:noFill/>
              </a:rPr>
              <a:t>Tornou-se a norma atualmente, especialmente com o uso de data </a:t>
            </a:r>
            <a:r>
              <a:rPr lang="pt-BR" dirty="0" err="1">
                <a:noFill/>
              </a:rPr>
              <a:t>warehouses</a:t>
            </a:r>
            <a:r>
              <a:rPr lang="pt-BR" dirty="0">
                <a:noFill/>
              </a:rPr>
              <a:t> na nuvem.</a:t>
            </a:r>
          </a:p>
        </p:txBody>
      </p:sp>
      <p:sp>
        <p:nvSpPr>
          <p:cNvPr id="21" name="Espaço Reservado para Rodapé 3">
            <a:extLst>
              <a:ext uri="{FF2B5EF4-FFF2-40B4-BE49-F238E27FC236}">
                <a16:creationId xmlns:a16="http://schemas.microsoft.com/office/drawing/2014/main" id="{4967533E-2616-5950-8D6E-305D7258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Assists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Transformando Dados em Informação - www.dbaassists.com.br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B30B6B3-74B5-602D-A065-D2BF0780F3D5}"/>
              </a:ext>
            </a:extLst>
          </p:cNvPr>
          <p:cNvSpPr txBox="1"/>
          <p:nvPr/>
        </p:nvSpPr>
        <p:spPr>
          <a:xfrm>
            <a:off x="117230" y="156144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Momento Mão na Massa!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CEEBFBF2-AE19-ECD1-5081-12D0114AF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24" name="Imagem 23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CB1204BE-F449-3489-F41C-CB3AEDFE0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26" name="Picture 2" descr="mão-na-massa - Mais Aprendizagem">
            <a:extLst>
              <a:ext uri="{FF2B5EF4-FFF2-40B4-BE49-F238E27FC236}">
                <a16:creationId xmlns:a16="http://schemas.microsoft.com/office/drawing/2014/main" id="{12174FE6-714D-00E5-253B-DED740ED0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607" y="1500794"/>
            <a:ext cx="6794785" cy="474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78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C0D0D688-E087-5777-4966-5D91B16C91E1}"/>
              </a:ext>
            </a:extLst>
          </p:cNvPr>
          <p:cNvSpPr/>
          <p:nvPr/>
        </p:nvSpPr>
        <p:spPr>
          <a:xfrm>
            <a:off x="814192" y="2755726"/>
            <a:ext cx="10509337" cy="2917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9091E14-BE93-2620-AA06-54C490EE16B4}"/>
              </a:ext>
            </a:extLst>
          </p:cNvPr>
          <p:cNvSpPr txBox="1"/>
          <p:nvPr/>
        </p:nvSpPr>
        <p:spPr>
          <a:xfrm>
            <a:off x="211661" y="1438734"/>
            <a:ext cx="113367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6600">
                <a:solidFill>
                  <a:srgbClr val="007DA9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sz="4400" dirty="0" err="1"/>
              <a:t>Elastic</a:t>
            </a:r>
            <a:r>
              <a:rPr lang="pt-BR" sz="4400" dirty="0"/>
              <a:t> Pool 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54346A0-016F-C57A-5609-ABB610468C55}"/>
              </a:ext>
            </a:extLst>
          </p:cNvPr>
          <p:cNvCxnSpPr/>
          <p:nvPr/>
        </p:nvCxnSpPr>
        <p:spPr>
          <a:xfrm>
            <a:off x="1290182" y="3455831"/>
            <a:ext cx="93272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9F1B1170-EBC6-6B9B-5061-C61823F69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420" y="4225504"/>
            <a:ext cx="962159" cy="12574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E4612FF-4FA2-119C-42EF-5173C9A2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624" y="4225504"/>
            <a:ext cx="962159" cy="125747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263A580-CBA2-6A24-8321-569552F6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142" y="4225504"/>
            <a:ext cx="962159" cy="1257475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326AD048-C615-BCBE-7DF8-1BF456CBB3AB}"/>
              </a:ext>
            </a:extLst>
          </p:cNvPr>
          <p:cNvSpPr/>
          <p:nvPr/>
        </p:nvSpPr>
        <p:spPr>
          <a:xfrm>
            <a:off x="10220818" y="315814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22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86863B8-F0BE-EDB0-5748-7519C1085753}"/>
              </a:ext>
            </a:extLst>
          </p:cNvPr>
          <p:cNvSpPr/>
          <p:nvPr/>
        </p:nvSpPr>
        <p:spPr>
          <a:xfrm>
            <a:off x="1095241" y="315814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B624166C-9720-584F-2309-B02022AC8D20}"/>
              </a:ext>
            </a:extLst>
          </p:cNvPr>
          <p:cNvSpPr/>
          <p:nvPr/>
        </p:nvSpPr>
        <p:spPr>
          <a:xfrm>
            <a:off x="2715671" y="315814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0F8EF82-F5DD-40F2-1745-979797356CB4}"/>
              </a:ext>
            </a:extLst>
          </p:cNvPr>
          <p:cNvSpPr/>
          <p:nvPr/>
        </p:nvSpPr>
        <p:spPr>
          <a:xfrm>
            <a:off x="6292777" y="3159521"/>
            <a:ext cx="595739" cy="592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B072AD67-B8BA-737A-52F4-7170F75D477C}"/>
              </a:ext>
            </a:extLst>
          </p:cNvPr>
          <p:cNvSpPr/>
          <p:nvPr/>
        </p:nvSpPr>
        <p:spPr>
          <a:xfrm>
            <a:off x="4472729" y="315814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701DA3A-178D-1568-E670-44034B6ED60A}"/>
              </a:ext>
            </a:extLst>
          </p:cNvPr>
          <p:cNvSpPr/>
          <p:nvPr/>
        </p:nvSpPr>
        <p:spPr>
          <a:xfrm>
            <a:off x="8188202" y="3158140"/>
            <a:ext cx="594000" cy="59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16</a:t>
            </a:r>
          </a:p>
        </p:txBody>
      </p:sp>
      <p:pic>
        <p:nvPicPr>
          <p:cNvPr id="1026" name="Picture 2" descr="How to Create Azure SQL Database Server in the Microsoft Azure Portal?">
            <a:extLst>
              <a:ext uri="{FF2B5EF4-FFF2-40B4-BE49-F238E27FC236}">
                <a16:creationId xmlns:a16="http://schemas.microsoft.com/office/drawing/2014/main" id="{172643C6-7A55-6C97-6D37-E0DCA5063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38"/>
          <a:stretch/>
        </p:blipFill>
        <p:spPr bwMode="auto">
          <a:xfrm>
            <a:off x="10969944" y="1909579"/>
            <a:ext cx="1157003" cy="114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212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F231806-2BD3-89A1-3CD0-8C237BA6067C}"/>
              </a:ext>
            </a:extLst>
          </p:cNvPr>
          <p:cNvSpPr/>
          <p:nvPr/>
        </p:nvSpPr>
        <p:spPr>
          <a:xfrm>
            <a:off x="268062" y="1799562"/>
            <a:ext cx="11609711" cy="42699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D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1750D41-CDB7-4704-E0E9-02C2646230C7}"/>
              </a:ext>
            </a:extLst>
          </p:cNvPr>
          <p:cNvSpPr/>
          <p:nvPr/>
        </p:nvSpPr>
        <p:spPr>
          <a:xfrm>
            <a:off x="2529537" y="3377813"/>
            <a:ext cx="1930093" cy="1113480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DTU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A15F57-0C7D-78E7-5D07-2DEDD3F5D7CC}"/>
              </a:ext>
            </a:extLst>
          </p:cNvPr>
          <p:cNvSpPr/>
          <p:nvPr/>
        </p:nvSpPr>
        <p:spPr>
          <a:xfrm>
            <a:off x="7732370" y="3377813"/>
            <a:ext cx="1930093" cy="1113480"/>
          </a:xfrm>
          <a:prstGeom prst="rect">
            <a:avLst/>
          </a:prstGeom>
          <a:solidFill>
            <a:srgbClr val="007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dirty="0">
                <a:latin typeface="Impact" panose="020B0806030902050204" pitchFamily="34" charset="0"/>
              </a:rPr>
              <a:t>VCORE </a:t>
            </a:r>
          </a:p>
        </p:txBody>
      </p:sp>
    </p:spTree>
    <p:extLst>
      <p:ext uri="{BB962C8B-B14F-4D97-AF65-F5344CB8AC3E}">
        <p14:creationId xmlns:p14="http://schemas.microsoft.com/office/powerpoint/2010/main" val="2759735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9091E14-BE93-2620-AA06-54C490EE16B4}"/>
              </a:ext>
            </a:extLst>
          </p:cNvPr>
          <p:cNvSpPr txBox="1"/>
          <p:nvPr/>
        </p:nvSpPr>
        <p:spPr>
          <a:xfrm>
            <a:off x="211661" y="1435196"/>
            <a:ext cx="113367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6600">
                <a:solidFill>
                  <a:srgbClr val="007DA9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sz="2000" dirty="0"/>
              <a:t>Modelo de Banco de Dados Baseado em DTU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Basic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Standard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Premium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/>
          </a:p>
          <a:p>
            <a:r>
              <a:rPr lang="pt-BR" sz="2000" dirty="0"/>
              <a:t>Combinação de memória, disco e CPU, ou seja, quanto maior o número de DTU, mais rápido será o DB;</a:t>
            </a:r>
          </a:p>
          <a:p>
            <a:endParaRPr lang="pt-BR" sz="2000" dirty="0"/>
          </a:p>
          <a:p>
            <a:r>
              <a:rPr lang="pt-BR" sz="2000" dirty="0"/>
              <a:t>É dinâmico, pode mudar a hora que quiser (UP/Down);</a:t>
            </a:r>
          </a:p>
          <a:p>
            <a:endParaRPr lang="pt-BR" sz="2000" dirty="0"/>
          </a:p>
          <a:p>
            <a:r>
              <a:rPr lang="pt-BR" sz="2000" dirty="0"/>
              <a:t>A cobrança é feita por minutos de uso;</a:t>
            </a:r>
          </a:p>
          <a:p>
            <a:endParaRPr lang="pt-BR" sz="2000" dirty="0"/>
          </a:p>
          <a:p>
            <a:r>
              <a:rPr lang="pt-BR" sz="2000" dirty="0"/>
              <a:t>Pode ser alterada a configuração conforme necessidade do negócio e essa mudança pode ser manual ou automatizada usando </a:t>
            </a:r>
            <a:r>
              <a:rPr lang="pt-BR" sz="2000" dirty="0" err="1"/>
              <a:t>powershell</a:t>
            </a:r>
            <a:r>
              <a:rPr lang="pt-BR" sz="20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40286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8159A1-4528-DA6B-80F0-FB71AB3980C8}"/>
              </a:ext>
            </a:extLst>
          </p:cNvPr>
          <p:cNvSpPr txBox="1"/>
          <p:nvPr/>
        </p:nvSpPr>
        <p:spPr>
          <a:xfrm>
            <a:off x="211661" y="1359964"/>
            <a:ext cx="117629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2000">
                <a:solidFill>
                  <a:srgbClr val="007DA9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sz="1600" dirty="0"/>
              <a:t>Modelo de Banco de Dados Baseado em </a:t>
            </a:r>
            <a:r>
              <a:rPr lang="pt-BR" sz="1600" dirty="0" err="1"/>
              <a:t>Vcore</a:t>
            </a:r>
            <a:endParaRPr lang="pt-BR" sz="1600" dirty="0"/>
          </a:p>
          <a:p>
            <a:endParaRPr lang="pt-BR" sz="1600" dirty="0"/>
          </a:p>
          <a:p>
            <a:r>
              <a:rPr lang="pt-BR" sz="1600" dirty="0"/>
              <a:t>General </a:t>
            </a:r>
            <a:r>
              <a:rPr lang="pt-BR" sz="1600" dirty="0" err="1"/>
              <a:t>Purpose</a:t>
            </a:r>
            <a:r>
              <a:rPr lang="pt-BR" sz="1600" dirty="0"/>
              <a:t> – Voltado para ambientes mais leves que não possuem alta demanda;</a:t>
            </a:r>
          </a:p>
          <a:p>
            <a:endParaRPr lang="pt-BR" sz="1600" dirty="0"/>
          </a:p>
          <a:p>
            <a:r>
              <a:rPr lang="pt-BR" sz="1600" dirty="0"/>
              <a:t>Computer </a:t>
            </a:r>
            <a:r>
              <a:rPr lang="pt-BR" sz="1600" dirty="0" err="1"/>
              <a:t>tier</a:t>
            </a:r>
            <a:r>
              <a:rPr lang="pt-BR" sz="1600" dirty="0"/>
              <a:t> – </a:t>
            </a:r>
            <a:r>
              <a:rPr lang="pt-BR" sz="1600" dirty="0" err="1"/>
              <a:t>Previsioned</a:t>
            </a:r>
            <a:r>
              <a:rPr lang="pt-BR" sz="1600" dirty="0"/>
              <a:t> e </a:t>
            </a:r>
            <a:r>
              <a:rPr lang="pt-BR" sz="1600" dirty="0" err="1"/>
              <a:t>Serveless</a:t>
            </a:r>
            <a:endParaRPr lang="pt-BR" sz="1600" dirty="0"/>
          </a:p>
          <a:p>
            <a:endParaRPr lang="pt-BR" sz="1600" dirty="0"/>
          </a:p>
          <a:p>
            <a:r>
              <a:rPr lang="pt-BR" sz="1600" dirty="0" err="1"/>
              <a:t>Provisioned</a:t>
            </a:r>
            <a:r>
              <a:rPr lang="pt-BR" sz="1600" dirty="0"/>
              <a:t> – budget </a:t>
            </a:r>
            <a:r>
              <a:rPr lang="pt-BR" sz="1600" dirty="0" err="1"/>
              <a:t>pré</a:t>
            </a:r>
            <a:r>
              <a:rPr lang="pt-BR" sz="1600" dirty="0"/>
              <a:t>-alocado, cobrança por hora sobre a quantidade de </a:t>
            </a:r>
            <a:r>
              <a:rPr lang="pt-BR" sz="1600" dirty="0" err="1"/>
              <a:t>VCores</a:t>
            </a:r>
            <a:r>
              <a:rPr lang="pt-BR" sz="1600" dirty="0"/>
              <a:t> usados, valor fixo por mês (podendo mudar)</a:t>
            </a:r>
          </a:p>
          <a:p>
            <a:endParaRPr lang="pt-BR" sz="1600" dirty="0"/>
          </a:p>
          <a:p>
            <a:r>
              <a:rPr lang="pt-BR" sz="1600" dirty="0" err="1"/>
              <a:t>Serveless</a:t>
            </a:r>
            <a:r>
              <a:rPr lang="pt-BR" sz="1600" dirty="0"/>
              <a:t> – define a quantidade mínima e a máxima de </a:t>
            </a:r>
            <a:r>
              <a:rPr lang="pt-BR" sz="1600" dirty="0" err="1"/>
              <a:t>VCores</a:t>
            </a:r>
            <a:r>
              <a:rPr lang="pt-BR" sz="1600" dirty="0"/>
              <a:t>, cobrança realizada por segundos de uso</a:t>
            </a:r>
          </a:p>
          <a:p>
            <a:r>
              <a:rPr lang="pt-BR" sz="1600" dirty="0"/>
              <a:t>Permite auto escalabilidade (autogestão);</a:t>
            </a:r>
          </a:p>
          <a:p>
            <a:endParaRPr lang="pt-BR" sz="1600" dirty="0"/>
          </a:p>
          <a:p>
            <a:r>
              <a:rPr lang="pt-BR" sz="1600" dirty="0"/>
              <a:t>Controle de Custo:</a:t>
            </a:r>
          </a:p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Auto pause;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Ficando apenas a cobrança pelo storage;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Quando for solicitado o recurso ele volta a ficar disponível;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Ajuda na redução de custos;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Indicado para: Ambientes que podem ficar indisponíveis.</a:t>
            </a:r>
          </a:p>
        </p:txBody>
      </p:sp>
    </p:spTree>
    <p:extLst>
      <p:ext uri="{BB962C8B-B14F-4D97-AF65-F5344CB8AC3E}">
        <p14:creationId xmlns:p14="http://schemas.microsoft.com/office/powerpoint/2010/main" val="1619231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8159A1-4528-DA6B-80F0-FB71AB3980C8}"/>
              </a:ext>
            </a:extLst>
          </p:cNvPr>
          <p:cNvSpPr txBox="1"/>
          <p:nvPr/>
        </p:nvSpPr>
        <p:spPr>
          <a:xfrm>
            <a:off x="211661" y="1347438"/>
            <a:ext cx="117629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rgbClr val="007DA9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sz="1600" dirty="0"/>
              <a:t>Modelo de Banco de Dados Baseado em </a:t>
            </a:r>
            <a:r>
              <a:rPr lang="pt-BR" sz="1600" dirty="0" err="1"/>
              <a:t>Vcore</a:t>
            </a:r>
            <a:endParaRPr lang="pt-BR" sz="1600" dirty="0"/>
          </a:p>
          <a:p>
            <a:endParaRPr lang="pt-BR" dirty="0"/>
          </a:p>
          <a:p>
            <a:r>
              <a:rPr lang="pt-BR" dirty="0" err="1"/>
              <a:t>Hyerscale</a:t>
            </a:r>
            <a:endParaRPr lang="pt-BR" dirty="0"/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Ambientes grandes e escaláveis que necessitam de baixa latência;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Armazenamento de até 100 TB;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Recomendado para ambientes que demandam muito armazenamento;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Possui a opção </a:t>
            </a:r>
            <a:r>
              <a:rPr lang="pt-BR" dirty="0" err="1"/>
              <a:t>save</a:t>
            </a:r>
            <a:r>
              <a:rPr lang="pt-BR" dirty="0"/>
              <a:t> Money, permite a reutilização de uma licença existente, podendo reduzir assim os custos em até 55%.</a:t>
            </a:r>
          </a:p>
          <a:p>
            <a:endParaRPr lang="pt-BR" dirty="0"/>
          </a:p>
          <a:p>
            <a:r>
              <a:rPr lang="pt-BR" dirty="0"/>
              <a:t>Business </a:t>
            </a:r>
            <a:r>
              <a:rPr lang="pt-BR" dirty="0" err="1"/>
              <a:t>Critical</a:t>
            </a:r>
            <a:r>
              <a:rPr lang="pt-BR" dirty="0"/>
              <a:t>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Latência mais baixa;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Recomendado para ambientes que não possam parar e que a lentidão não é aceita, possuí um alto número de </a:t>
            </a:r>
            <a:r>
              <a:rPr lang="pt-BR" dirty="0" err="1"/>
              <a:t>IOPs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Armazenamento máximo de 4 </a:t>
            </a:r>
            <a:r>
              <a:rPr lang="pt-BR" dirty="0" err="1"/>
              <a:t>TBs</a:t>
            </a:r>
            <a:r>
              <a:rPr lang="pt-BR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Ambientes robustos que exigem baixa latência.</a:t>
            </a:r>
          </a:p>
        </p:txBody>
      </p:sp>
    </p:spTree>
    <p:extLst>
      <p:ext uri="{BB962C8B-B14F-4D97-AF65-F5344CB8AC3E}">
        <p14:creationId xmlns:p14="http://schemas.microsoft.com/office/powerpoint/2010/main" val="2974472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6FC851C-5704-A208-A1BE-91ECFB3D0CCF}"/>
              </a:ext>
            </a:extLst>
          </p:cNvPr>
          <p:cNvSpPr txBox="1"/>
          <p:nvPr/>
        </p:nvSpPr>
        <p:spPr>
          <a:xfrm>
            <a:off x="263371" y="1413833"/>
            <a:ext cx="11665258" cy="497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Backups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Gerados de forma AUTOMÁTICA;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backups – local onde conseguimos configurar a política de retenção de backups;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possível retornar um backup em um período do tempo (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Poit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Time Recovery (PITR) - Default 7 dias);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Opção Configure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Retention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(Point in Time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Restore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– Define quantos dias o Azure irá guardar os backups (full, diferencia e log).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Default - 7 dias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Mínimo - 1 dia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Máximo – 35 dias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 exista a necessidade de reter por um tempo maior, deve-se ativar o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Long-Term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Retention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Configuration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é a configuração de retenção de backups à longo prazo;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backups podem ser do tipo Weekly, Monthly e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yearly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 sempre define como que será e por quanto tempo será retido.</a:t>
            </a:r>
            <a:endParaRPr lang="pt-BR" sz="1200" dirty="0">
              <a:solidFill>
                <a:srgbClr val="007DA9"/>
              </a:solidFill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funciona o backup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Full – semanal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Diferencial – 12/24 horas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 – 5 a 10 minutos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Redundância por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geo-redundância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(RA-GRS) – Os backups são armazenados em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Blob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Storage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local que já replicado dentro do Azure;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Backup automático é gerenciado, com retenção,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restore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simples, ou seja, mais simples do que ocorre no </a:t>
            </a:r>
            <a:r>
              <a:rPr lang="pt-BR" sz="1200" dirty="0" err="1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OnPremise</a:t>
            </a:r>
            <a:r>
              <a:rPr lang="pt-BR" sz="1200" dirty="0">
                <a:solidFill>
                  <a:srgbClr val="007DA9"/>
                </a:solidFill>
                <a:effectLst/>
                <a:latin typeface="Impact" panose="020B080603090205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200" dirty="0">
              <a:solidFill>
                <a:srgbClr val="007DA9"/>
              </a:solidFill>
              <a:effectLst/>
              <a:latin typeface="Impact" panose="020B080603090205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258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20AF413-CD23-7A8F-2E03-D3B40EC82F75}"/>
              </a:ext>
            </a:extLst>
          </p:cNvPr>
          <p:cNvSpPr txBox="1"/>
          <p:nvPr/>
        </p:nvSpPr>
        <p:spPr>
          <a:xfrm>
            <a:off x="268062" y="1464019"/>
            <a:ext cx="11565385" cy="4882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Configuração do Firewall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é possível acessar um ASQL de forma externa sem a liberação do firewall.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Existem dois níveis de acesso: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DATABASE-LEVEL-FIREWALL RULES – Primeiro nível de validação do acesso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SERVER-LEVEL-FIREWALL RULES – Segundo nível de validação do acesso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1800" dirty="0"/>
              <a:t>Os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SERVER-LEVEL-FIREWALL RULES</a:t>
            </a:r>
            <a:r>
              <a:rPr lang="pt-BR" sz="1800" dirty="0"/>
              <a:t> são configurados para permitir que os usuários se conectem ao banco de dados master e a todos os bancos de dados na instância. </a:t>
            </a:r>
          </a:p>
          <a:p>
            <a:r>
              <a:rPr lang="pt-BR" sz="1800" dirty="0"/>
              <a:t>Os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DATABASE-LEVEL-FIREWALL RULES</a:t>
            </a:r>
            <a:r>
              <a:rPr lang="pt-BR" sz="1800" dirty="0"/>
              <a:t> são usados ​​para conceder ou bloquear endereços IP específicos de acessar bancos de dados específicos.</a:t>
            </a:r>
          </a:p>
          <a:p>
            <a:r>
              <a:rPr lang="pt-BR" sz="1800" dirty="0"/>
              <a:t>As regras de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SERVER-LEVEL-FIREWALL RULES</a:t>
            </a:r>
            <a:r>
              <a:rPr lang="pt-BR" sz="1800" dirty="0"/>
              <a:t> podem ser configuradas usando o portal do Azure ou usando o procedimento armazenado </a:t>
            </a:r>
            <a:r>
              <a:rPr lang="pt-BR" sz="1800" dirty="0" err="1"/>
              <a:t>sp_set_database_firewall_rule</a:t>
            </a:r>
            <a:r>
              <a:rPr lang="pt-BR" sz="1800" dirty="0"/>
              <a:t> de dentro do banco de dados mestre. </a:t>
            </a:r>
          </a:p>
          <a:p>
            <a:r>
              <a:rPr lang="pt-BR" sz="1800" dirty="0"/>
              <a:t>As regras de 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DATABASE-LEVEL-FIREWALL RULES</a:t>
            </a:r>
            <a:r>
              <a:rPr lang="pt-BR" sz="1800" dirty="0"/>
              <a:t> são configuradas por meio de T-SQL somente usando a procedure </a:t>
            </a:r>
            <a:r>
              <a:rPr lang="pt-BR" sz="1800" dirty="0" err="1"/>
              <a:t>sp_set_database_firewall_rule</a:t>
            </a:r>
            <a:r>
              <a:rPr lang="pt-BR" sz="1800" dirty="0"/>
              <a:t> de dentro do banco de dados do usuário.</a:t>
            </a:r>
          </a:p>
          <a:p>
            <a:pPr lvl="0"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019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2" name="Picture 2" descr="Image of Azure SQL server firewalls, depicted between the server and the cloud. This is a decision tree where either database-level firewall rules or server-level firewall rules are enacted based on the client IP address.">
            <a:extLst>
              <a:ext uri="{FF2B5EF4-FFF2-40B4-BE49-F238E27FC236}">
                <a16:creationId xmlns:a16="http://schemas.microsoft.com/office/drawing/2014/main" id="{B220AB88-01D5-BE83-E1F1-C40E4C79F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43" y="1828332"/>
            <a:ext cx="4644870" cy="497624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DF10149-15DE-69D3-F930-1A89B5DF06ED}"/>
              </a:ext>
            </a:extLst>
          </p:cNvPr>
          <p:cNvSpPr txBox="1"/>
          <p:nvPr/>
        </p:nvSpPr>
        <p:spPr>
          <a:xfrm>
            <a:off x="130373" y="1500298"/>
            <a:ext cx="75388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Quando um computador tenta se conectar ao seu servidor a partir da Internet, o firewall primeiro verifica o endereço IP de origem da solicitação em relação às regras de firewall de IP no nível do banco de dados para o banco de dados que a conexão solicita.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 o endereço estiver dentro de um intervalo especificado nas regras de firewall de IP no nível do banco de dados, a conexão será concedida ao banco de dados que contém a regra.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 o endereço não estiver dentro de um intervalo nas regras de firewall de IP em nível de banco de dados, o firewall verificará as regras de firewall de IP em nível de servidor. Se o endereço estiver dentro de um intervalo que está nas regras de firewall de IP no nível do servidor, a conexão será concedida. As regras de firewall IP no nível do servidor se aplicam a todos os bancos de dados gerenciados pelo servidor.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 o endereço não estiver dentro de um intervalo que esteja em qualquer uma das regras de firewall IP no nível do banco de dados ou no nível do servidor, a solicitação de conexão falhará.</a:t>
            </a:r>
          </a:p>
        </p:txBody>
      </p:sp>
    </p:spTree>
    <p:extLst>
      <p:ext uri="{BB962C8B-B14F-4D97-AF65-F5344CB8AC3E}">
        <p14:creationId xmlns:p14="http://schemas.microsoft.com/office/powerpoint/2010/main" val="220452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Azure SQL Database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ABE808C-303A-25D1-9828-93F4E6576C76}"/>
              </a:ext>
            </a:extLst>
          </p:cNvPr>
          <p:cNvSpPr txBox="1"/>
          <p:nvPr/>
        </p:nvSpPr>
        <p:spPr>
          <a:xfrm>
            <a:off x="211661" y="1496807"/>
            <a:ext cx="12067712" cy="479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Azure SQL Database</a:t>
            </a:r>
            <a:r>
              <a:rPr lang="pt-BR" sz="1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Limitações do Azure SQL Database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Não tem: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Suporte a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queries (acessar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dosi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bancos na mesma query)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realizar o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cross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existe a possibilidade de fazer usando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External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Tables</a:t>
            </a:r>
            <a:endParaRPr lang="pt-BR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suport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jobs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Não é possível agendar uma atividade no SQL Server Agent.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 recurso está disponível apenas no Azure SQL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Managed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Instance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no Azure SQL VM.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Para contornar podemos usar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Jobs.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Por não ter um servidor disponível (ASQL é um PAAS), não existe autenticação via Windows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 forma de login disponível é via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Azure AD.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tem acesso a geração de diagramas (validar esses pontos);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suport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CLR,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procedures, trigger (validar esses pontos)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possuí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mail;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Service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Brocker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linked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server, SSRS, SSAS e SSIS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possui também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openquery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opendatabase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openrowset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bulk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possui SQL Profile. Deve ser usado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possui trace flags;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possui trigger de login, existe apenas trigger a nível de tabelas;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Não existe trigger a nível de servidor;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Comando USE DATABASE para mudar de banco não funciona. Precisa selecionar na combo e em alguns casos, conectar e desconectar para atualizar a lista de </a:t>
            </a:r>
            <a:r>
              <a:rPr lang="pt-BR" sz="1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databases</a:t>
            </a:r>
            <a:r>
              <a:rPr lang="pt-BR" sz="1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654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3">
            <a:extLst>
              <a:ext uri="{FF2B5EF4-FFF2-40B4-BE49-F238E27FC236}">
                <a16:creationId xmlns:a16="http://schemas.microsoft.com/office/drawing/2014/main" id="{9B99CDE2-66EA-4D8E-D022-7B7F4704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 dirty="0">
                <a:solidFill>
                  <a:srgbClr val="007DA9"/>
                </a:solidFill>
              </a:rPr>
              <a:t>DBA </a:t>
            </a:r>
            <a:r>
              <a:rPr lang="pt-BR" dirty="0" err="1">
                <a:solidFill>
                  <a:srgbClr val="007DA9"/>
                </a:solidFill>
              </a:rPr>
              <a:t>Assists</a:t>
            </a:r>
            <a:r>
              <a:rPr lang="pt-BR" dirty="0">
                <a:solidFill>
                  <a:srgbClr val="007DA9"/>
                </a:solidFill>
              </a:rPr>
              <a:t> - Transformando Dados em Informação - www.dbaassists.com.br</a:t>
            </a:r>
          </a:p>
        </p:txBody>
      </p:sp>
      <p:pic>
        <p:nvPicPr>
          <p:cNvPr id="4" name="Picture 4" descr="Aplausos GIF - Conseguir o melhor gif em GIFER">
            <a:extLst>
              <a:ext uri="{FF2B5EF4-FFF2-40B4-BE49-F238E27FC236}">
                <a16:creationId xmlns:a16="http://schemas.microsoft.com/office/drawing/2014/main" id="{E4840D42-6637-48A3-8D8B-E31B1AF5F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3005" y="1704200"/>
            <a:ext cx="47625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BF890AE-3DBE-8D47-30DB-D4695777DC36}"/>
              </a:ext>
            </a:extLst>
          </p:cNvPr>
          <p:cNvSpPr txBox="1"/>
          <p:nvPr/>
        </p:nvSpPr>
        <p:spPr>
          <a:xfrm>
            <a:off x="162283" y="177557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Momento – Muito Obrigado!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7D2E73DF-4BB2-0B02-FADF-EED36F11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DA9"/>
              </a:solidFill>
              <a:highlight>
                <a:srgbClr val="007DA9"/>
              </a:highlight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832085-67C6-3FD9-F710-9D39B48C4CB8}"/>
              </a:ext>
            </a:extLst>
          </p:cNvPr>
          <p:cNvSpPr txBox="1"/>
          <p:nvPr/>
        </p:nvSpPr>
        <p:spPr>
          <a:xfrm>
            <a:off x="268062" y="1594693"/>
            <a:ext cx="11207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Obrigado por: </a:t>
            </a:r>
          </a:p>
          <a:p>
            <a:pPr algn="l"/>
            <a:endParaRPr lang="pt-BR" sz="3600" dirty="0">
              <a:solidFill>
                <a:srgbClr val="007DA9"/>
              </a:solidFill>
              <a:latin typeface="Impact" panose="020B0806030902050204" pitchFamily="34" charset="0"/>
            </a:endParaRP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Acreditar na proposta presentada;</a:t>
            </a: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Doar seu tempo;</a:t>
            </a: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Por participar intensamente;</a:t>
            </a: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Por compartilhar seu conhecimento;</a:t>
            </a: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Por agregar valor;</a:t>
            </a:r>
          </a:p>
          <a:p>
            <a:pPr algn="l"/>
            <a:r>
              <a:rPr lang="pt-BR" sz="3600" dirty="0">
                <a:solidFill>
                  <a:srgbClr val="007DA9"/>
                </a:solidFill>
                <a:latin typeface="Impact" panose="020B0806030902050204" pitchFamily="34" charset="0"/>
              </a:rPr>
              <a:t>Por não desistir;</a:t>
            </a:r>
          </a:p>
        </p:txBody>
      </p:sp>
    </p:spTree>
    <p:extLst>
      <p:ext uri="{BB962C8B-B14F-4D97-AF65-F5344CB8AC3E}">
        <p14:creationId xmlns:p14="http://schemas.microsoft.com/office/powerpoint/2010/main" val="4016247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Agradecimento!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2" name="Picture 2" descr="fim Logotipo | Ferramenta de design de logotipo grátis de ...">
            <a:extLst>
              <a:ext uri="{FF2B5EF4-FFF2-40B4-BE49-F238E27FC236}">
                <a16:creationId xmlns:a16="http://schemas.microsoft.com/office/drawing/2014/main" id="{1FAE894D-9AFF-1711-5E2B-87505D5D7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22" b="21282"/>
          <a:stretch/>
        </p:blipFill>
        <p:spPr bwMode="auto">
          <a:xfrm>
            <a:off x="1714500" y="2148840"/>
            <a:ext cx="8544708" cy="352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15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82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Case do Projeto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2" name="Imagem 1" descr="Diagrama&#10;&#10;Descrição gerada automaticamente">
            <a:extLst>
              <a:ext uri="{FF2B5EF4-FFF2-40B4-BE49-F238E27FC236}">
                <a16:creationId xmlns:a16="http://schemas.microsoft.com/office/drawing/2014/main" id="{49DB007D-EF9C-FFFA-A0E6-4C42072BA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15" y="1466116"/>
            <a:ext cx="10059272" cy="48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7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Ambiente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0ABD80E-EDAB-A54B-86EE-921C8006C823}"/>
              </a:ext>
            </a:extLst>
          </p:cNvPr>
          <p:cNvSpPr txBox="1"/>
          <p:nvPr/>
        </p:nvSpPr>
        <p:spPr>
          <a:xfrm>
            <a:off x="0" y="2598774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Databricks Community</a:t>
            </a:r>
          </a:p>
        </p:txBody>
      </p:sp>
    </p:spTree>
    <p:extLst>
      <p:ext uri="{BB962C8B-B14F-4D97-AF65-F5344CB8AC3E}">
        <p14:creationId xmlns:p14="http://schemas.microsoft.com/office/powerpoint/2010/main" val="3786188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Configurando Ambiente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9877682-BCFE-0715-5ABF-8D7132D8A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09" y="1414181"/>
            <a:ext cx="9364382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88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49FA240-F1EB-B3A3-59B6-545612607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285"/>
            <a:ext cx="12192000" cy="348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28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23DB1DE-0A44-50E2-33AB-6ECDEAA70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709"/>
            <a:ext cx="12192000" cy="445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347D26-8F92-E809-9894-9B64A32BB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4816"/>
            <a:ext cx="12192000" cy="473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781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BE1175-4440-FE44-6036-94EF98CD7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4040"/>
            <a:ext cx="12192000" cy="47561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2F97E46-891F-79DA-ED44-48EBA0F80897}"/>
              </a:ext>
            </a:extLst>
          </p:cNvPr>
          <p:cNvSpPr txBox="1"/>
          <p:nvPr/>
        </p:nvSpPr>
        <p:spPr>
          <a:xfrm>
            <a:off x="7054045" y="4124492"/>
            <a:ext cx="5137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phV8Q~hmfzHAMXPKwVk.X28Hm0F_WC76Iul8lcBo</a:t>
            </a:r>
          </a:p>
        </p:txBody>
      </p:sp>
    </p:spTree>
    <p:extLst>
      <p:ext uri="{BB962C8B-B14F-4D97-AF65-F5344CB8AC3E}">
        <p14:creationId xmlns:p14="http://schemas.microsoft.com/office/powerpoint/2010/main" val="2260565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89D7148-53E9-3DBF-1B9F-22DB6BFCA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3071"/>
            <a:ext cx="1219200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992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6902104-D4D7-A340-A500-EFE75FC88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6337"/>
            <a:ext cx="12192000" cy="445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73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89196A-33E0-C7E9-7080-B941061A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1221"/>
            <a:ext cx="12192000" cy="39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52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71C57E4-EE8F-A5A6-E276-7FD12CA56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41" y="1463210"/>
            <a:ext cx="10129640" cy="48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882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2AA8B13-50D9-A110-4597-6ABC74B3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7514"/>
            <a:ext cx="12192000" cy="454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90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2A9F00-09AA-C555-440F-93A69039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87" y="1339025"/>
            <a:ext cx="10839855" cy="517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2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26646F-F411-1A72-313D-205703E04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97" y="1367406"/>
            <a:ext cx="10820054" cy="51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73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F94247-4DBC-004C-F2C3-8730055F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" y="1476711"/>
            <a:ext cx="10884408" cy="521177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24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9EB18BF-6750-B1AA-5089-9C1E5B2A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2" y="1391617"/>
            <a:ext cx="11268456" cy="531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956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5ADCAC7-9050-7C7B-AFC7-C033F8C54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30" y="1409699"/>
            <a:ext cx="10985770" cy="510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46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Community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790115D-175E-E1F1-19EF-593B43CE842C}"/>
              </a:ext>
            </a:extLst>
          </p:cNvPr>
          <p:cNvSpPr txBox="1"/>
          <p:nvPr/>
        </p:nvSpPr>
        <p:spPr>
          <a:xfrm>
            <a:off x="171608" y="1886838"/>
            <a:ext cx="11808731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As versões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 Databricks têm algumas limitações em comparação com as versões pagas (full). Aqui estão algumas das principais diferenças e limitações que você pode encontrar: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Recursos Computacionais Limitados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Databricks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geralmente oferece menos recursos computacionais em comparação com as versões pagas. Isso pode incluir menos poder de processamento, memória e armazenamento.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Número Limitado de Clusters e Recursos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Na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você pode ter um número limitado de clusters em execução simultaneamente e acesso a um número limitado de recursos.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Tempo de Inatividade e Restrições de Disponibilidade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Os clusters na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podem ser sujeitos a tempos de inatividade programados para manutenção ou atualizações. Além disso, pode haver restrições na disponibilidade de certos recursos.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Recursos Premium Não Disponíveis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Alguns recursos premium do Databricks, como autenticação integrada com LDAP/Active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Directory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integração com provedores de nuvem adicionais, gerenciamento de custos avançado e suporte prioritário, geralmente não estão disponíveis na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Suporte Limitado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 suporte ao cliente para usuários da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 ser limitado em comparação com as versões pagas. Isso pode incluir tempos de resposta mais longos e menos opções de suporte.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Limitações de Armazenamento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 capacidade de armazenamento disponível na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pode ser menor do que nas versões pagas. Isso pode afetar a quantidade de dados que você pode armazenar e analisar na plataforma.</a:t>
            </a:r>
          </a:p>
          <a:p>
            <a:pPr algn="l">
              <a:buFont typeface="+mj-lt"/>
              <a:buAutoNum type="arabicPeriod"/>
            </a:pPr>
            <a:r>
              <a:rPr lang="pt-BR" sz="14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Restrições de Utilização Comercial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 uso da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geralmente é destinado apenas para fins de aprendizado, experimentação e desenvolvimento. O uso comercial pode ser limitado ou proibido, dependendo dos termos de serviço.</a:t>
            </a:r>
          </a:p>
          <a:p>
            <a:pPr algn="l"/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É importante revisar os detalhes específicos da versão Community </a:t>
            </a:r>
            <a:r>
              <a:rPr lang="pt-BR" sz="14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Edition</a:t>
            </a:r>
            <a:r>
              <a:rPr lang="pt-BR" sz="1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do Databricks que você está usando, pois as limitações podem variar dependendo da implementação específica e das políticas da empresa. Se você precisar de recursos adicionais ou suporte mais robusto, pode ser necessário considerar a atualização para uma versão paga do Databricks.</a:t>
            </a:r>
          </a:p>
        </p:txBody>
      </p:sp>
    </p:spTree>
    <p:extLst>
      <p:ext uri="{BB962C8B-B14F-4D97-AF65-F5344CB8AC3E}">
        <p14:creationId xmlns:p14="http://schemas.microsoft.com/office/powerpoint/2010/main" val="34517679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17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B199F75-9B4C-5700-D228-34EAE47F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181" y="1443039"/>
            <a:ext cx="8673073" cy="490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319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39E833B-A8C7-3456-2934-7C4BADA5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856" y="1573008"/>
            <a:ext cx="944059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146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C5F8A30-FBB8-1342-2353-53DD082DA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73008"/>
            <a:ext cx="12192000" cy="48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71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92F143F-D8D9-A3BF-8FDA-D1F71D32D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2848"/>
            <a:ext cx="12192000" cy="465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43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55EE8E2-85E7-AE34-3F44-DCCFA0A96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4820"/>
            <a:ext cx="12192000" cy="409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160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BE3427-6417-DBEA-6A88-CB7CAF5C6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4002"/>
            <a:ext cx="12192000" cy="531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5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E53F35B-4815-A1A4-6776-344726B83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4008"/>
            <a:ext cx="12192000" cy="412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50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3ADFAC9-0F1E-C68C-6629-A9EA00FC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2868"/>
            <a:ext cx="12192000" cy="449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532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C07BFCC-0F81-0985-F097-C2B508B2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74" y="1411136"/>
            <a:ext cx="10100153" cy="510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504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23B4F21-B3C1-2A5E-2FC6-2F49923E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7252"/>
            <a:ext cx="12192000" cy="410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76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76A53AA-27CD-F207-3F1E-28BD88EF1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27" y="1605883"/>
            <a:ext cx="9999945" cy="470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2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FF7B2F-290B-AE8B-DA4C-5739C41F7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709" y="1493793"/>
            <a:ext cx="9824581" cy="455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905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0D994EE-848C-B222-4C40-0B917AE2D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750" y="1573008"/>
            <a:ext cx="9128065" cy="454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34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E3EA44-01A6-8E67-F857-CBE506636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3419"/>
            <a:ext cx="12192000" cy="52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3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E0830FD-CBDB-D934-8F0C-158BFDA08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12350"/>
            <a:ext cx="12192000" cy="483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757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CFE7BD6-E36D-FD78-3794-90E26E488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18" y="1646317"/>
            <a:ext cx="10538564" cy="48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937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AB91532-08CF-8401-21C0-649392325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37" y="1486470"/>
            <a:ext cx="10563616" cy="478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39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1517ABE-92F8-CB9B-891A-86E39552B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53" y="1573008"/>
            <a:ext cx="11402860" cy="485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365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414FA7A-7C72-4F16-4B2D-2B8C1412D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960" y="1337608"/>
            <a:ext cx="9298488" cy="517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356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3C81511-318F-E5A0-F9B1-D659BF61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49" y="1327139"/>
            <a:ext cx="10075101" cy="518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608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13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4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963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27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098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195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Databricks Unity </a:t>
            </a:r>
            <a:r>
              <a:rPr lang="pt-BR" sz="6600" dirty="0" err="1">
                <a:solidFill>
                  <a:srgbClr val="007DA9"/>
                </a:solidFill>
                <a:latin typeface="Impact" panose="020B0806030902050204" pitchFamily="34" charset="0"/>
              </a:rPr>
              <a:t>Catalog</a:t>
            </a:r>
            <a:endParaRPr lang="pt-BR" sz="6600" dirty="0">
              <a:solidFill>
                <a:srgbClr val="007DA9"/>
              </a:solidFill>
              <a:latin typeface="Impact" panose="020B0806030902050204" pitchFamily="34" charset="0"/>
            </a:endParaRP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481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04AD19-D4C2-8774-A2E3-CD71990D0EA5}"/>
              </a:ext>
            </a:extLst>
          </p:cNvPr>
          <p:cNvSpPr txBox="1"/>
          <p:nvPr/>
        </p:nvSpPr>
        <p:spPr>
          <a:xfrm>
            <a:off x="425196" y="20129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show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rg</a:t>
            </a:r>
            <a:r>
              <a:rPr lang="pt-BR" dirty="0"/>
              <a:t>-workshop-</a:t>
            </a:r>
            <a:r>
              <a:rPr lang="pt-BR" dirty="0" err="1"/>
              <a:t>azure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E8BAA9-838E-5E08-7920-BE10459502CD}"/>
              </a:ext>
            </a:extLst>
          </p:cNvPr>
          <p:cNvSpPr txBox="1"/>
          <p:nvPr/>
        </p:nvSpPr>
        <p:spPr>
          <a:xfrm>
            <a:off x="333756" y="24701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&gt;az </a:t>
            </a:r>
            <a:r>
              <a:rPr lang="pt-BR" dirty="0" err="1"/>
              <a:t>group</a:t>
            </a:r>
            <a:r>
              <a:rPr lang="pt-BR" dirty="0"/>
              <a:t> show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demoResourceGroup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AFA993-02AA-FF8D-F8EE-49B2F527A26F}"/>
              </a:ext>
            </a:extLst>
          </p:cNvPr>
          <p:cNvSpPr txBox="1"/>
          <p:nvPr/>
        </p:nvSpPr>
        <p:spPr>
          <a:xfrm>
            <a:off x="425196" y="2927342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list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4F4284A-5A16-EE10-89E6-0AF54F128F09}"/>
              </a:ext>
            </a:extLst>
          </p:cNvPr>
          <p:cNvSpPr txBox="1"/>
          <p:nvPr/>
        </p:nvSpPr>
        <p:spPr>
          <a:xfrm>
            <a:off x="425196" y="3339298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az </a:t>
            </a:r>
            <a:r>
              <a:rPr lang="pt-BR" dirty="0" err="1"/>
              <a:t>group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--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demoResourceGroup</a:t>
            </a:r>
            <a:r>
              <a:rPr lang="pt-BR" dirty="0"/>
              <a:t> --</a:t>
            </a:r>
            <a:r>
              <a:rPr lang="pt-BR" dirty="0" err="1"/>
              <a:t>location</a:t>
            </a:r>
            <a:r>
              <a:rPr lang="pt-BR" dirty="0"/>
              <a:t> </a:t>
            </a:r>
            <a:r>
              <a:rPr lang="pt-BR" dirty="0" err="1"/>
              <a:t>westus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E96D88B-5749-C4D7-93B7-F42DB9083298}"/>
              </a:ext>
            </a:extLst>
          </p:cNvPr>
          <p:cNvSpPr txBox="1"/>
          <p:nvPr/>
        </p:nvSpPr>
        <p:spPr>
          <a:xfrm>
            <a:off x="425196" y="3895698"/>
            <a:ext cx="6239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&gt;az login</a:t>
            </a:r>
          </a:p>
        </p:txBody>
      </p:sp>
    </p:spTree>
    <p:extLst>
      <p:ext uri="{BB962C8B-B14F-4D97-AF65-F5344CB8AC3E}">
        <p14:creationId xmlns:p14="http://schemas.microsoft.com/office/powerpoint/2010/main" val="13050892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6C237E6-03D5-4DBD-7B8C-AE6887C110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600"/>
          <a:stretch/>
        </p:blipFill>
        <p:spPr>
          <a:xfrm>
            <a:off x="1115568" y="1573008"/>
            <a:ext cx="7120128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606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3C322-2FC1-BCB8-A84E-05E5DB58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5CB30F6-DC5D-5C9F-69EF-E791ACE34B58}"/>
              </a:ext>
            </a:extLst>
          </p:cNvPr>
          <p:cNvSpPr txBox="1"/>
          <p:nvPr/>
        </p:nvSpPr>
        <p:spPr>
          <a:xfrm>
            <a:off x="130373" y="169518"/>
            <a:ext cx="104870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rgbClr val="007DA9"/>
                </a:solidFill>
                <a:latin typeface="Impact" panose="020B0806030902050204" pitchFamily="34" charset="0"/>
              </a:rPr>
              <a:t>Assunto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87DD0FC8-CCB3-8A55-5DF7-09FAD1C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7118"/>
            <a:ext cx="4114800" cy="365125"/>
          </a:xfrm>
        </p:spPr>
        <p:txBody>
          <a:bodyPr/>
          <a:lstStyle/>
          <a:p>
            <a:r>
              <a:rPr lang="pt-BR" dirty="0"/>
              <a:t>DBA </a:t>
            </a:r>
            <a:r>
              <a:rPr lang="pt-BR" dirty="0" err="1"/>
              <a:t>Assists</a:t>
            </a:r>
            <a:r>
              <a:rPr lang="pt-BR" dirty="0"/>
              <a:t> - Transformando Dados em Informação - www.dbaassists.com.br</a:t>
            </a:r>
          </a:p>
        </p:txBody>
      </p:sp>
      <p:sp>
        <p:nvSpPr>
          <p:cNvPr id="5" name="sketchy line">
            <a:extLst>
              <a:ext uri="{FF2B5EF4-FFF2-40B4-BE49-F238E27FC236}">
                <a16:creationId xmlns:a16="http://schemas.microsoft.com/office/drawing/2014/main" id="{C4EE8E8D-EEBB-9963-6B9A-688C0D9B0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8062" y="1184695"/>
            <a:ext cx="11727443" cy="100858"/>
          </a:xfrm>
          <a:custGeom>
            <a:avLst/>
            <a:gdLst>
              <a:gd name="connsiteX0" fmla="*/ 0 w 11727443"/>
              <a:gd name="connsiteY0" fmla="*/ 0 h 100858"/>
              <a:gd name="connsiteX1" fmla="*/ 455301 w 11727443"/>
              <a:gd name="connsiteY1" fmla="*/ 0 h 100858"/>
              <a:gd name="connsiteX2" fmla="*/ 1379699 w 11727443"/>
              <a:gd name="connsiteY2" fmla="*/ 0 h 100858"/>
              <a:gd name="connsiteX3" fmla="*/ 2069549 w 11727443"/>
              <a:gd name="connsiteY3" fmla="*/ 0 h 100858"/>
              <a:gd name="connsiteX4" fmla="*/ 2524849 w 11727443"/>
              <a:gd name="connsiteY4" fmla="*/ 0 h 100858"/>
              <a:gd name="connsiteX5" fmla="*/ 2862876 w 11727443"/>
              <a:gd name="connsiteY5" fmla="*/ 0 h 100858"/>
              <a:gd name="connsiteX6" fmla="*/ 3787274 w 11727443"/>
              <a:gd name="connsiteY6" fmla="*/ 0 h 100858"/>
              <a:gd name="connsiteX7" fmla="*/ 4359849 w 11727443"/>
              <a:gd name="connsiteY7" fmla="*/ 0 h 100858"/>
              <a:gd name="connsiteX8" fmla="*/ 5284248 w 11727443"/>
              <a:gd name="connsiteY8" fmla="*/ 0 h 100858"/>
              <a:gd name="connsiteX9" fmla="*/ 5622274 w 11727443"/>
              <a:gd name="connsiteY9" fmla="*/ 0 h 100858"/>
              <a:gd name="connsiteX10" fmla="*/ 6077575 w 11727443"/>
              <a:gd name="connsiteY10" fmla="*/ 0 h 100858"/>
              <a:gd name="connsiteX11" fmla="*/ 7001973 w 11727443"/>
              <a:gd name="connsiteY11" fmla="*/ 0 h 100858"/>
              <a:gd name="connsiteX12" fmla="*/ 7926372 w 11727443"/>
              <a:gd name="connsiteY12" fmla="*/ 0 h 100858"/>
              <a:gd name="connsiteX13" fmla="*/ 8498947 w 11727443"/>
              <a:gd name="connsiteY13" fmla="*/ 0 h 100858"/>
              <a:gd name="connsiteX14" fmla="*/ 8836973 w 11727443"/>
              <a:gd name="connsiteY14" fmla="*/ 0 h 100858"/>
              <a:gd name="connsiteX15" fmla="*/ 9644097 w 11727443"/>
              <a:gd name="connsiteY15" fmla="*/ 0 h 100858"/>
              <a:gd name="connsiteX16" fmla="*/ 10333947 w 11727443"/>
              <a:gd name="connsiteY16" fmla="*/ 0 h 100858"/>
              <a:gd name="connsiteX17" fmla="*/ 10906522 w 11727443"/>
              <a:gd name="connsiteY17" fmla="*/ 0 h 100858"/>
              <a:gd name="connsiteX18" fmla="*/ 11727443 w 11727443"/>
              <a:gd name="connsiteY18" fmla="*/ 0 h 100858"/>
              <a:gd name="connsiteX19" fmla="*/ 11727443 w 11727443"/>
              <a:gd name="connsiteY19" fmla="*/ 100858 h 100858"/>
              <a:gd name="connsiteX20" fmla="*/ 10920319 w 11727443"/>
              <a:gd name="connsiteY20" fmla="*/ 100858 h 100858"/>
              <a:gd name="connsiteX21" fmla="*/ 10465018 w 11727443"/>
              <a:gd name="connsiteY21" fmla="*/ 100858 h 100858"/>
              <a:gd name="connsiteX22" fmla="*/ 9892443 w 11727443"/>
              <a:gd name="connsiteY22" fmla="*/ 100858 h 100858"/>
              <a:gd name="connsiteX23" fmla="*/ 8968045 w 11727443"/>
              <a:gd name="connsiteY23" fmla="*/ 100858 h 100858"/>
              <a:gd name="connsiteX24" fmla="*/ 8630018 w 11727443"/>
              <a:gd name="connsiteY24" fmla="*/ 100858 h 100858"/>
              <a:gd name="connsiteX25" fmla="*/ 8291992 w 11727443"/>
              <a:gd name="connsiteY25" fmla="*/ 100858 h 100858"/>
              <a:gd name="connsiteX26" fmla="*/ 7953966 w 11727443"/>
              <a:gd name="connsiteY26" fmla="*/ 100858 h 100858"/>
              <a:gd name="connsiteX27" fmla="*/ 7146842 w 11727443"/>
              <a:gd name="connsiteY27" fmla="*/ 100858 h 100858"/>
              <a:gd name="connsiteX28" fmla="*/ 6691541 w 11727443"/>
              <a:gd name="connsiteY28" fmla="*/ 100858 h 100858"/>
              <a:gd name="connsiteX29" fmla="*/ 5884417 w 11727443"/>
              <a:gd name="connsiteY29" fmla="*/ 100858 h 100858"/>
              <a:gd name="connsiteX30" fmla="*/ 5077293 w 11727443"/>
              <a:gd name="connsiteY30" fmla="*/ 100858 h 100858"/>
              <a:gd name="connsiteX31" fmla="*/ 4621992 w 11727443"/>
              <a:gd name="connsiteY31" fmla="*/ 100858 h 100858"/>
              <a:gd name="connsiteX32" fmla="*/ 3932143 w 11727443"/>
              <a:gd name="connsiteY32" fmla="*/ 100858 h 100858"/>
              <a:gd name="connsiteX33" fmla="*/ 3359567 w 11727443"/>
              <a:gd name="connsiteY33" fmla="*/ 100858 h 100858"/>
              <a:gd name="connsiteX34" fmla="*/ 2435169 w 11727443"/>
              <a:gd name="connsiteY34" fmla="*/ 100858 h 100858"/>
              <a:gd name="connsiteX35" fmla="*/ 1745319 w 11727443"/>
              <a:gd name="connsiteY35" fmla="*/ 100858 h 100858"/>
              <a:gd name="connsiteX36" fmla="*/ 938195 w 11727443"/>
              <a:gd name="connsiteY36" fmla="*/ 100858 h 100858"/>
              <a:gd name="connsiteX37" fmla="*/ 600169 w 11727443"/>
              <a:gd name="connsiteY37" fmla="*/ 100858 h 100858"/>
              <a:gd name="connsiteX38" fmla="*/ 0 w 11727443"/>
              <a:gd name="connsiteY38" fmla="*/ 100858 h 100858"/>
              <a:gd name="connsiteX39" fmla="*/ 0 w 11727443"/>
              <a:gd name="connsiteY39" fmla="*/ 0 h 10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727443" h="100858" fill="none" extrusionOk="0">
                <a:moveTo>
                  <a:pt x="0" y="0"/>
                </a:moveTo>
                <a:cubicBezTo>
                  <a:pt x="177575" y="-8335"/>
                  <a:pt x="289292" y="-22372"/>
                  <a:pt x="455301" y="0"/>
                </a:cubicBezTo>
                <a:cubicBezTo>
                  <a:pt x="621310" y="22372"/>
                  <a:pt x="959229" y="316"/>
                  <a:pt x="1379699" y="0"/>
                </a:cubicBezTo>
                <a:cubicBezTo>
                  <a:pt x="1800169" y="-316"/>
                  <a:pt x="1910290" y="-19988"/>
                  <a:pt x="2069549" y="0"/>
                </a:cubicBezTo>
                <a:cubicBezTo>
                  <a:pt x="2228808" y="19988"/>
                  <a:pt x="2328018" y="-6436"/>
                  <a:pt x="2524849" y="0"/>
                </a:cubicBezTo>
                <a:cubicBezTo>
                  <a:pt x="2721680" y="6436"/>
                  <a:pt x="2744923" y="692"/>
                  <a:pt x="2862876" y="0"/>
                </a:cubicBezTo>
                <a:cubicBezTo>
                  <a:pt x="2980829" y="-692"/>
                  <a:pt x="3455105" y="28803"/>
                  <a:pt x="3787274" y="0"/>
                </a:cubicBezTo>
                <a:cubicBezTo>
                  <a:pt x="4119443" y="-28803"/>
                  <a:pt x="4093258" y="3515"/>
                  <a:pt x="4359849" y="0"/>
                </a:cubicBezTo>
                <a:cubicBezTo>
                  <a:pt x="4626441" y="-3515"/>
                  <a:pt x="4994558" y="-15931"/>
                  <a:pt x="5284248" y="0"/>
                </a:cubicBezTo>
                <a:cubicBezTo>
                  <a:pt x="5573938" y="15931"/>
                  <a:pt x="5518095" y="-13412"/>
                  <a:pt x="5622274" y="0"/>
                </a:cubicBezTo>
                <a:cubicBezTo>
                  <a:pt x="5726453" y="13412"/>
                  <a:pt x="5919345" y="19043"/>
                  <a:pt x="6077575" y="0"/>
                </a:cubicBezTo>
                <a:cubicBezTo>
                  <a:pt x="6235805" y="-19043"/>
                  <a:pt x="6637812" y="29609"/>
                  <a:pt x="7001973" y="0"/>
                </a:cubicBezTo>
                <a:cubicBezTo>
                  <a:pt x="7366134" y="-29609"/>
                  <a:pt x="7716303" y="17424"/>
                  <a:pt x="7926372" y="0"/>
                </a:cubicBezTo>
                <a:cubicBezTo>
                  <a:pt x="8136441" y="-17424"/>
                  <a:pt x="8378864" y="-19420"/>
                  <a:pt x="8498947" y="0"/>
                </a:cubicBezTo>
                <a:cubicBezTo>
                  <a:pt x="8619031" y="19420"/>
                  <a:pt x="8765062" y="-15679"/>
                  <a:pt x="8836973" y="0"/>
                </a:cubicBezTo>
                <a:cubicBezTo>
                  <a:pt x="8908884" y="15679"/>
                  <a:pt x="9288035" y="12756"/>
                  <a:pt x="9644097" y="0"/>
                </a:cubicBezTo>
                <a:cubicBezTo>
                  <a:pt x="10000159" y="-12756"/>
                  <a:pt x="10089663" y="-5649"/>
                  <a:pt x="10333947" y="0"/>
                </a:cubicBezTo>
                <a:cubicBezTo>
                  <a:pt x="10578231" y="5649"/>
                  <a:pt x="10785095" y="27917"/>
                  <a:pt x="10906522" y="0"/>
                </a:cubicBezTo>
                <a:cubicBezTo>
                  <a:pt x="11027949" y="-27917"/>
                  <a:pt x="11562609" y="31188"/>
                  <a:pt x="11727443" y="0"/>
                </a:cubicBezTo>
                <a:cubicBezTo>
                  <a:pt x="11723584" y="38217"/>
                  <a:pt x="11731691" y="73296"/>
                  <a:pt x="11727443" y="100858"/>
                </a:cubicBezTo>
                <a:cubicBezTo>
                  <a:pt x="11381154" y="139297"/>
                  <a:pt x="11163895" y="69647"/>
                  <a:pt x="10920319" y="100858"/>
                </a:cubicBezTo>
                <a:cubicBezTo>
                  <a:pt x="10676743" y="132069"/>
                  <a:pt x="10625983" y="117071"/>
                  <a:pt x="10465018" y="100858"/>
                </a:cubicBezTo>
                <a:cubicBezTo>
                  <a:pt x="10304053" y="84645"/>
                  <a:pt x="10063410" y="105790"/>
                  <a:pt x="9892443" y="100858"/>
                </a:cubicBezTo>
                <a:cubicBezTo>
                  <a:pt x="9721477" y="95926"/>
                  <a:pt x="9298902" y="55708"/>
                  <a:pt x="8968045" y="100858"/>
                </a:cubicBezTo>
                <a:cubicBezTo>
                  <a:pt x="8637188" y="146008"/>
                  <a:pt x="8753098" y="98295"/>
                  <a:pt x="8630018" y="100858"/>
                </a:cubicBezTo>
                <a:cubicBezTo>
                  <a:pt x="8506938" y="103421"/>
                  <a:pt x="8382809" y="104606"/>
                  <a:pt x="8291992" y="100858"/>
                </a:cubicBezTo>
                <a:cubicBezTo>
                  <a:pt x="8201175" y="97110"/>
                  <a:pt x="8042573" y="88227"/>
                  <a:pt x="7953966" y="100858"/>
                </a:cubicBezTo>
                <a:cubicBezTo>
                  <a:pt x="7865359" y="113489"/>
                  <a:pt x="7327260" y="71433"/>
                  <a:pt x="7146842" y="100858"/>
                </a:cubicBezTo>
                <a:cubicBezTo>
                  <a:pt x="6966424" y="130283"/>
                  <a:pt x="6836691" y="78893"/>
                  <a:pt x="6691541" y="100858"/>
                </a:cubicBezTo>
                <a:cubicBezTo>
                  <a:pt x="6546391" y="122823"/>
                  <a:pt x="6161732" y="96929"/>
                  <a:pt x="5884417" y="100858"/>
                </a:cubicBezTo>
                <a:cubicBezTo>
                  <a:pt x="5607102" y="104787"/>
                  <a:pt x="5399769" y="71203"/>
                  <a:pt x="5077293" y="100858"/>
                </a:cubicBezTo>
                <a:cubicBezTo>
                  <a:pt x="4754817" y="130513"/>
                  <a:pt x="4780101" y="110562"/>
                  <a:pt x="4621992" y="100858"/>
                </a:cubicBezTo>
                <a:cubicBezTo>
                  <a:pt x="4463883" y="91154"/>
                  <a:pt x="4080268" y="82653"/>
                  <a:pt x="3932143" y="100858"/>
                </a:cubicBezTo>
                <a:cubicBezTo>
                  <a:pt x="3784018" y="119063"/>
                  <a:pt x="3606068" y="107585"/>
                  <a:pt x="3359567" y="100858"/>
                </a:cubicBezTo>
                <a:cubicBezTo>
                  <a:pt x="3113066" y="94131"/>
                  <a:pt x="2833730" y="108463"/>
                  <a:pt x="2435169" y="100858"/>
                </a:cubicBezTo>
                <a:cubicBezTo>
                  <a:pt x="2036608" y="93253"/>
                  <a:pt x="1979570" y="109496"/>
                  <a:pt x="1745319" y="100858"/>
                </a:cubicBezTo>
                <a:cubicBezTo>
                  <a:pt x="1511068" y="92221"/>
                  <a:pt x="1304277" y="99602"/>
                  <a:pt x="938195" y="100858"/>
                </a:cubicBezTo>
                <a:cubicBezTo>
                  <a:pt x="572113" y="102114"/>
                  <a:pt x="673750" y="115329"/>
                  <a:pt x="600169" y="100858"/>
                </a:cubicBezTo>
                <a:cubicBezTo>
                  <a:pt x="526588" y="86387"/>
                  <a:pt x="223952" y="122492"/>
                  <a:pt x="0" y="100858"/>
                </a:cubicBezTo>
                <a:cubicBezTo>
                  <a:pt x="-124" y="56937"/>
                  <a:pt x="-3196" y="35397"/>
                  <a:pt x="0" y="0"/>
                </a:cubicBezTo>
                <a:close/>
              </a:path>
              <a:path w="11727443" h="100858" stroke="0" extrusionOk="0">
                <a:moveTo>
                  <a:pt x="0" y="0"/>
                </a:moveTo>
                <a:cubicBezTo>
                  <a:pt x="226598" y="-20463"/>
                  <a:pt x="284703" y="21278"/>
                  <a:pt x="455301" y="0"/>
                </a:cubicBezTo>
                <a:cubicBezTo>
                  <a:pt x="625899" y="-21278"/>
                  <a:pt x="975360" y="-38169"/>
                  <a:pt x="1379699" y="0"/>
                </a:cubicBezTo>
                <a:cubicBezTo>
                  <a:pt x="1784038" y="38169"/>
                  <a:pt x="1553897" y="10715"/>
                  <a:pt x="1717725" y="0"/>
                </a:cubicBezTo>
                <a:cubicBezTo>
                  <a:pt x="1881553" y="-10715"/>
                  <a:pt x="1957404" y="7512"/>
                  <a:pt x="2055752" y="0"/>
                </a:cubicBezTo>
                <a:cubicBezTo>
                  <a:pt x="2154100" y="-7512"/>
                  <a:pt x="2455093" y="6931"/>
                  <a:pt x="2745601" y="0"/>
                </a:cubicBezTo>
                <a:cubicBezTo>
                  <a:pt x="3036109" y="-6931"/>
                  <a:pt x="3200578" y="-6899"/>
                  <a:pt x="3318177" y="0"/>
                </a:cubicBezTo>
                <a:cubicBezTo>
                  <a:pt x="3435776" y="6899"/>
                  <a:pt x="3830972" y="-29023"/>
                  <a:pt x="4125301" y="0"/>
                </a:cubicBezTo>
                <a:cubicBezTo>
                  <a:pt x="4419630" y="29023"/>
                  <a:pt x="4438628" y="-3380"/>
                  <a:pt x="4580601" y="0"/>
                </a:cubicBezTo>
                <a:cubicBezTo>
                  <a:pt x="4722574" y="3380"/>
                  <a:pt x="5287872" y="-26084"/>
                  <a:pt x="5505000" y="0"/>
                </a:cubicBezTo>
                <a:cubicBezTo>
                  <a:pt x="5722128" y="26084"/>
                  <a:pt x="5845495" y="-3138"/>
                  <a:pt x="6077575" y="0"/>
                </a:cubicBezTo>
                <a:cubicBezTo>
                  <a:pt x="6309655" y="3138"/>
                  <a:pt x="6416497" y="-9038"/>
                  <a:pt x="6532876" y="0"/>
                </a:cubicBezTo>
                <a:cubicBezTo>
                  <a:pt x="6649255" y="9038"/>
                  <a:pt x="6798774" y="17432"/>
                  <a:pt x="6988176" y="0"/>
                </a:cubicBezTo>
                <a:cubicBezTo>
                  <a:pt x="7177578" y="-17432"/>
                  <a:pt x="7432115" y="-1508"/>
                  <a:pt x="7560751" y="0"/>
                </a:cubicBezTo>
                <a:cubicBezTo>
                  <a:pt x="7689387" y="1508"/>
                  <a:pt x="7817048" y="19459"/>
                  <a:pt x="8016052" y="0"/>
                </a:cubicBezTo>
                <a:cubicBezTo>
                  <a:pt x="8215056" y="-19459"/>
                  <a:pt x="8384141" y="13593"/>
                  <a:pt x="8705902" y="0"/>
                </a:cubicBezTo>
                <a:cubicBezTo>
                  <a:pt x="9027663" y="-13593"/>
                  <a:pt x="8932873" y="-16432"/>
                  <a:pt x="9043928" y="0"/>
                </a:cubicBezTo>
                <a:cubicBezTo>
                  <a:pt x="9154983" y="16432"/>
                  <a:pt x="9568699" y="-30219"/>
                  <a:pt x="9733778" y="0"/>
                </a:cubicBezTo>
                <a:cubicBezTo>
                  <a:pt x="9898857" y="30219"/>
                  <a:pt x="9973728" y="-1849"/>
                  <a:pt x="10071804" y="0"/>
                </a:cubicBezTo>
                <a:cubicBezTo>
                  <a:pt x="10169880" y="1849"/>
                  <a:pt x="10558830" y="-12560"/>
                  <a:pt x="10996202" y="0"/>
                </a:cubicBezTo>
                <a:cubicBezTo>
                  <a:pt x="11433574" y="12560"/>
                  <a:pt x="11579031" y="-6546"/>
                  <a:pt x="11727443" y="0"/>
                </a:cubicBezTo>
                <a:cubicBezTo>
                  <a:pt x="11729168" y="25018"/>
                  <a:pt x="11723362" y="74256"/>
                  <a:pt x="11727443" y="100858"/>
                </a:cubicBezTo>
                <a:cubicBezTo>
                  <a:pt x="11466834" y="85519"/>
                  <a:pt x="11273864" y="83363"/>
                  <a:pt x="11154868" y="100858"/>
                </a:cubicBezTo>
                <a:cubicBezTo>
                  <a:pt x="11035872" y="118353"/>
                  <a:pt x="10917509" y="98250"/>
                  <a:pt x="10816842" y="100858"/>
                </a:cubicBezTo>
                <a:cubicBezTo>
                  <a:pt x="10716175" y="103466"/>
                  <a:pt x="10190281" y="93289"/>
                  <a:pt x="9892443" y="100858"/>
                </a:cubicBezTo>
                <a:cubicBezTo>
                  <a:pt x="9594605" y="108427"/>
                  <a:pt x="9385168" y="118111"/>
                  <a:pt x="9202594" y="100858"/>
                </a:cubicBezTo>
                <a:cubicBezTo>
                  <a:pt x="9020020" y="83605"/>
                  <a:pt x="8470284" y="126256"/>
                  <a:pt x="8278195" y="100858"/>
                </a:cubicBezTo>
                <a:cubicBezTo>
                  <a:pt x="8086106" y="75460"/>
                  <a:pt x="7779236" y="101234"/>
                  <a:pt x="7588345" y="100858"/>
                </a:cubicBezTo>
                <a:cubicBezTo>
                  <a:pt x="7397454" y="100483"/>
                  <a:pt x="7324210" y="98320"/>
                  <a:pt x="7250319" y="100858"/>
                </a:cubicBezTo>
                <a:cubicBezTo>
                  <a:pt x="7176428" y="103396"/>
                  <a:pt x="6743284" y="112839"/>
                  <a:pt x="6325921" y="100858"/>
                </a:cubicBezTo>
                <a:cubicBezTo>
                  <a:pt x="5908558" y="88877"/>
                  <a:pt x="6095670" y="116342"/>
                  <a:pt x="5870620" y="100858"/>
                </a:cubicBezTo>
                <a:cubicBezTo>
                  <a:pt x="5645570" y="85374"/>
                  <a:pt x="5700885" y="115088"/>
                  <a:pt x="5532594" y="100858"/>
                </a:cubicBezTo>
                <a:cubicBezTo>
                  <a:pt x="5364303" y="86628"/>
                  <a:pt x="5212740" y="105293"/>
                  <a:pt x="4960019" y="100858"/>
                </a:cubicBezTo>
                <a:cubicBezTo>
                  <a:pt x="4707298" y="96423"/>
                  <a:pt x="4491720" y="108840"/>
                  <a:pt x="4035620" y="100858"/>
                </a:cubicBezTo>
                <a:cubicBezTo>
                  <a:pt x="3579520" y="92876"/>
                  <a:pt x="3768890" y="79226"/>
                  <a:pt x="3580319" y="100858"/>
                </a:cubicBezTo>
                <a:cubicBezTo>
                  <a:pt x="3391748" y="122490"/>
                  <a:pt x="3059393" y="71723"/>
                  <a:pt x="2655921" y="100858"/>
                </a:cubicBezTo>
                <a:cubicBezTo>
                  <a:pt x="2252449" y="129993"/>
                  <a:pt x="2021995" y="121740"/>
                  <a:pt x="1848797" y="100858"/>
                </a:cubicBezTo>
                <a:cubicBezTo>
                  <a:pt x="1675599" y="79976"/>
                  <a:pt x="1263502" y="106737"/>
                  <a:pt x="924398" y="100858"/>
                </a:cubicBezTo>
                <a:cubicBezTo>
                  <a:pt x="585294" y="94979"/>
                  <a:pt x="216313" y="56521"/>
                  <a:pt x="0" y="100858"/>
                </a:cubicBezTo>
                <a:cubicBezTo>
                  <a:pt x="-4094" y="59488"/>
                  <a:pt x="2375" y="29231"/>
                  <a:pt x="0" y="0"/>
                </a:cubicBezTo>
                <a:close/>
              </a:path>
            </a:pathLst>
          </a:custGeom>
          <a:solidFill>
            <a:srgbClr val="007DA9"/>
          </a:solidFill>
          <a:ln w="44450" cap="rnd">
            <a:solidFill>
              <a:srgbClr val="007DA9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DA9"/>
                </a:solidFill>
              </a:rPr>
              <a:t>‘</a:t>
            </a:r>
          </a:p>
        </p:txBody>
      </p:sp>
      <p:pic>
        <p:nvPicPr>
          <p:cNvPr id="7" name="Imagem 6" descr="Placa azul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B9BD4E6-2009-3660-131F-028590145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367" y="168398"/>
            <a:ext cx="1403972" cy="140461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88B7B85-5D6C-2033-83AB-3557B205A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350"/>
          <a:stretch/>
        </p:blipFill>
        <p:spPr>
          <a:xfrm>
            <a:off x="1170432" y="1425445"/>
            <a:ext cx="7150608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11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55199</TotalTime>
  <Words>3189</Words>
  <Application>Microsoft Office PowerPoint</Application>
  <PresentationFormat>Widescreen</PresentationFormat>
  <Paragraphs>402</Paragraphs>
  <Slides>72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72</vt:i4>
      </vt:variant>
    </vt:vector>
  </HeadingPairs>
  <TitlesOfParts>
    <vt:vector size="82" baseType="lpstr">
      <vt:lpstr>Aptos</vt:lpstr>
      <vt:lpstr>Arial</vt:lpstr>
      <vt:lpstr>Calibri</vt:lpstr>
      <vt:lpstr>Calibri Light</vt:lpstr>
      <vt:lpstr>Impact</vt:lpstr>
      <vt:lpstr>Segoe UI</vt:lpstr>
      <vt:lpstr>Söhne</vt:lpstr>
      <vt:lpstr>Symbol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Gabriel Quintella</dc:creator>
  <cp:lastModifiedBy>Gabriel Quintella</cp:lastModifiedBy>
  <cp:revision>481</cp:revision>
  <dcterms:created xsi:type="dcterms:W3CDTF">2024-02-17T14:08:37Z</dcterms:created>
  <dcterms:modified xsi:type="dcterms:W3CDTF">2024-09-10T17:09:44Z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ada0a2f-b917-4d51-b0d0-d418a10c8b23_Enabled">
    <vt:lpwstr>true</vt:lpwstr>
  </property>
  <property fmtid="{D5CDD505-2E9C-101B-9397-08002B2CF9AE}" pid="3" name="MSIP_Label_1ada0a2f-b917-4d51-b0d0-d418a10c8b23_SetDate">
    <vt:lpwstr>2024-06-12T18:01:52Z</vt:lpwstr>
  </property>
  <property fmtid="{D5CDD505-2E9C-101B-9397-08002B2CF9AE}" pid="4" name="MSIP_Label_1ada0a2f-b917-4d51-b0d0-d418a10c8b23_Method">
    <vt:lpwstr>Standard</vt:lpwstr>
  </property>
  <property fmtid="{D5CDD505-2E9C-101B-9397-08002B2CF9AE}" pid="5" name="MSIP_Label_1ada0a2f-b917-4d51-b0d0-d418a10c8b23_Name">
    <vt:lpwstr>1ada0a2f-b917-4d51-b0d0-d418a10c8b23</vt:lpwstr>
  </property>
  <property fmtid="{D5CDD505-2E9C-101B-9397-08002B2CF9AE}" pid="6" name="MSIP_Label_1ada0a2f-b917-4d51-b0d0-d418a10c8b23_SiteId">
    <vt:lpwstr>12a3af23-a769-4654-847f-958f3d479f4a</vt:lpwstr>
  </property>
  <property fmtid="{D5CDD505-2E9C-101B-9397-08002B2CF9AE}" pid="7" name="MSIP_Label_1ada0a2f-b917-4d51-b0d0-d418a10c8b23_ActionId">
    <vt:lpwstr>67b60621-427c-4511-9874-ff9b4329d30c</vt:lpwstr>
  </property>
  <property fmtid="{D5CDD505-2E9C-101B-9397-08002B2CF9AE}" pid="8" name="MSIP_Label_1ada0a2f-b917-4d51-b0d0-d418a10c8b23_ContentBits">
    <vt:lpwstr>0</vt:lpwstr>
  </property>
</Properties>
</file>